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customXml" Target="../customXml/item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&lt;!--pageType:table_of_contents--&gt;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over-accent-line"/>
          <p:cNvSpPr/>
          <p:nvPr/>
        </p:nvSpPr>
        <p:spPr>
          <a:xfrm>
            <a:off x="5143500" y="2952750"/>
            <a:ext cx="1905000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cover-title|s=$title"/>
          <p:cNvSpPr txBox="1"/>
          <p:nvPr/>
        </p:nvSpPr>
        <p:spPr>
          <a:xfrm>
            <a:off x="1333500" y="2286000"/>
            <a:ext cx="9525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3000" b="1" noProof="1">
                <a:solidFill>
                  <a:srgbClr val="FFFFFF"/>
                </a:solidFill>
                <a:latin typeface="QuattrocentoSans"/>
                <a:ea typeface="alimamashuheiti"/>
              </a:rPr>
              <a:t>beacon-cloud</a:t>
            </a:r>
            <a:r>
              <a:rPr sz="3000" noProof="1">
                <a:solidFill>
                  <a:srgbClr val="FFFFFF"/>
                </a:solidFill>
                <a:latin typeface="QuattrocentoSans"/>
                <a:ea typeface="alimamashuheiti"/>
              </a:rPr>
              <a:t> 分布式短信平台</a:t>
            </a:r>
            <a:endParaRPr sz="3000" noProof="1">
              <a:solidFill>
                <a:srgbClr val="FFFFFF"/>
              </a:solidFill>
              <a:latin typeface="QuattrocentoSans"/>
              <a:ea typeface="alimamashuheiti"/>
            </a:endParaRPr>
          </a:p>
        </p:txBody>
      </p:sp>
      <p:sp>
        <p:nvSpPr>
          <p:cNvPr id="4" name="dsl:cover-subtitle"/>
          <p:cNvSpPr txBox="1"/>
          <p:nvPr/>
        </p:nvSpPr>
        <p:spPr>
          <a:xfrm>
            <a:off x="2286000" y="31432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noProof="1">
                <a:solidFill>
                  <a:srgbClr val="BDC3C7"/>
                </a:solidFill>
                <a:latin typeface="QuattrocentoSans"/>
                <a:ea typeface="MiSans"/>
              </a:rPr>
              <a:t>基于 Spring Cloud 微服务架构的 SMS Gateway 项目汇报</a:t>
            </a:r>
            <a:endParaRPr sz="150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5" name="dsl:cover-info"/>
          <p:cNvSpPr txBox="1"/>
          <p:nvPr/>
        </p:nvSpPr>
        <p:spPr>
          <a:xfrm>
            <a:off x="3238500" y="5715000"/>
            <a:ext cx="571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95A5A6"/>
                </a:solidFill>
                <a:latin typeface="QuattrocentoSans"/>
                <a:ea typeface="MiSans"/>
              </a:rPr>
              <a:t>beacon-cloud 项目 | 2026</a:t>
            </a:r>
            <a:endParaRPr sz="1050" noProof="1">
              <a:solidFill>
                <a:srgbClr val="95A5A6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c-accent-bar"/>
          <p:cNvSpPr/>
          <p:nvPr/>
        </p:nvSpPr>
        <p:spPr>
          <a:xfrm>
            <a:off x="571500" y="819150"/>
            <a:ext cx="38100" cy="762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oc-title|s=$title"/>
          <p:cNvSpPr txBox="1"/>
          <p:nvPr/>
        </p:nvSpPr>
        <p:spPr>
          <a:xfrm>
            <a:off x="762000" y="819150"/>
            <a:ext cx="2857500" cy="762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000" b="1" noProof="1">
                <a:solidFill>
                  <a:srgbClr val="2C3E50"/>
                </a:solidFill>
                <a:latin typeface="QuattrocentoSans"/>
                <a:ea typeface="alimamashuheiti"/>
              </a:rPr>
              <a:t>目录</a:t>
            </a:r>
            <a:endParaRPr sz="30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4" name="dsl:toc-en"/>
          <p:cNvSpPr txBox="1"/>
          <p:nvPr/>
        </p:nvSpPr>
        <p:spPr>
          <a:xfrm>
            <a:off x="762000" y="161925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spc="300" noProof="1">
                <a:solidFill>
                  <a:srgbClr val="95A5A6"/>
                </a:solidFill>
                <a:latin typeface="QuattrocentoSans"/>
                <a:ea typeface="MiSans"/>
              </a:rPr>
              <a:t>CONTENTS</a:t>
            </a:r>
            <a:endParaRPr sz="1200" spc="300" noProof="1">
              <a:solidFill>
                <a:srgbClr val="95A5A6"/>
              </a:solidFill>
              <a:latin typeface="QuattrocentoSans"/>
              <a:ea typeface="MiSans"/>
            </a:endParaRPr>
          </a:p>
        </p:txBody>
      </p:sp>
      <p:sp>
        <p:nvSpPr>
          <p:cNvPr id="5" name="dsl:toc-card1-bg"/>
          <p:cNvSpPr/>
          <p:nvPr/>
        </p:nvSpPr>
        <p:spPr>
          <a:xfrm>
            <a:off x="4381500" y="1143000"/>
            <a:ext cx="3524250" cy="20955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toc-card1-num"/>
          <p:cNvSpPr txBox="1"/>
          <p:nvPr/>
        </p:nvSpPr>
        <p:spPr>
          <a:xfrm>
            <a:off x="4667250" y="1428750"/>
            <a:ext cx="76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000" b="1" noProof="1">
                <a:solidFill>
                  <a:srgbClr val="E67E22"/>
                </a:solidFill>
                <a:latin typeface="QuattrocentoSans"/>
                <a:ea typeface="alimamashuheiti"/>
              </a:rPr>
              <a:t>01</a:t>
            </a:r>
            <a:endParaRPr sz="3000" b="1" noProof="1">
              <a:solidFill>
                <a:srgbClr val="E67E22"/>
              </a:solidFill>
              <a:latin typeface="QuattrocentoSans"/>
              <a:ea typeface="alimamashuheiti"/>
            </a:endParaRPr>
          </a:p>
        </p:txBody>
      </p:sp>
      <p:sp>
        <p:nvSpPr>
          <p:cNvPr id="7" name="dsl:toc-card1-title"/>
          <p:cNvSpPr txBox="1"/>
          <p:nvPr/>
        </p:nvSpPr>
        <p:spPr>
          <a:xfrm>
            <a:off x="4667250" y="2000250"/>
            <a:ext cx="2952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3E50"/>
                </a:solidFill>
                <a:latin typeface="QuattrocentoSans"/>
                <a:ea typeface="alimamashuheiti"/>
              </a:rPr>
              <a:t>项目背景与定位</a:t>
            </a:r>
            <a:endParaRPr sz="15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8" name="dsl:toc-card1-desc"/>
          <p:cNvSpPr txBox="1"/>
          <p:nvPr/>
        </p:nvSpPr>
        <p:spPr>
          <a:xfrm>
            <a:off x="4667250" y="2381250"/>
            <a:ext cx="295275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95A5A6"/>
                </a:solidFill>
                <a:latin typeface="QuattrocentoSans"/>
                <a:ea typeface="MiSans"/>
              </a:rPr>
              <a:t>了解 beacon-cloud 是什么、解决什么问题、使用什么技术</a:t>
            </a:r>
            <a:endParaRPr sz="1050" noProof="1">
              <a:solidFill>
                <a:srgbClr val="95A5A6"/>
              </a:solidFill>
              <a:latin typeface="QuattrocentoSans"/>
              <a:ea typeface="MiSans"/>
            </a:endParaRPr>
          </a:p>
        </p:txBody>
      </p:sp>
      <p:sp>
        <p:nvSpPr>
          <p:cNvPr id="9" name="dsl:toc-card2-bg"/>
          <p:cNvSpPr/>
          <p:nvPr/>
        </p:nvSpPr>
        <p:spPr>
          <a:xfrm>
            <a:off x="8096250" y="1143000"/>
            <a:ext cx="3524250" cy="20955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oc-card2-num"/>
          <p:cNvSpPr txBox="1"/>
          <p:nvPr/>
        </p:nvSpPr>
        <p:spPr>
          <a:xfrm>
            <a:off x="8382000" y="1428750"/>
            <a:ext cx="76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000" b="1" noProof="1">
                <a:solidFill>
                  <a:srgbClr val="E67E22"/>
                </a:solidFill>
                <a:latin typeface="QuattrocentoSans"/>
                <a:ea typeface="alimamashuheiti"/>
              </a:rPr>
              <a:t>02</a:t>
            </a:r>
            <a:endParaRPr sz="3000" b="1" noProof="1">
              <a:solidFill>
                <a:srgbClr val="E67E22"/>
              </a:solidFill>
              <a:latin typeface="QuattrocentoSans"/>
              <a:ea typeface="alimamashuheiti"/>
            </a:endParaRPr>
          </a:p>
        </p:txBody>
      </p:sp>
      <p:sp>
        <p:nvSpPr>
          <p:cNvPr id="11" name="dsl:toc-card2-title"/>
          <p:cNvSpPr txBox="1"/>
          <p:nvPr/>
        </p:nvSpPr>
        <p:spPr>
          <a:xfrm>
            <a:off x="8382000" y="2000250"/>
            <a:ext cx="2952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3E50"/>
                </a:solidFill>
                <a:latin typeface="QuattrocentoSans"/>
                <a:ea typeface="alimamashuheiti"/>
              </a:rPr>
              <a:t>系统架构设计</a:t>
            </a:r>
            <a:endParaRPr sz="15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12" name="dsl:toc-card2-desc"/>
          <p:cNvSpPr txBox="1"/>
          <p:nvPr/>
        </p:nvSpPr>
        <p:spPr>
          <a:xfrm>
            <a:off x="8382000" y="2381250"/>
            <a:ext cx="295275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95A5A6"/>
                </a:solidFill>
                <a:latin typeface="QuattrocentoSans"/>
                <a:ea typeface="MiSans"/>
              </a:rPr>
              <a:t>微服务拆分、模块职责、核心业务流程</a:t>
            </a:r>
            <a:endParaRPr sz="1050" noProof="1">
              <a:solidFill>
                <a:srgbClr val="95A5A6"/>
              </a:solidFill>
              <a:latin typeface="QuattrocentoSans"/>
              <a:ea typeface="MiSans"/>
            </a:endParaRPr>
          </a:p>
        </p:txBody>
      </p:sp>
      <p:sp>
        <p:nvSpPr>
          <p:cNvPr id="13" name="dsl:toc-card3-bg"/>
          <p:cNvSpPr/>
          <p:nvPr/>
        </p:nvSpPr>
        <p:spPr>
          <a:xfrm>
            <a:off x="4381500" y="3524250"/>
            <a:ext cx="3524250" cy="20955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oc-card3-num"/>
          <p:cNvSpPr txBox="1"/>
          <p:nvPr/>
        </p:nvSpPr>
        <p:spPr>
          <a:xfrm>
            <a:off x="4667250" y="3810000"/>
            <a:ext cx="76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000" b="1" noProof="1">
                <a:solidFill>
                  <a:srgbClr val="E67E22"/>
                </a:solidFill>
                <a:latin typeface="QuattrocentoSans"/>
                <a:ea typeface="alimamashuheiti"/>
              </a:rPr>
              <a:t>03</a:t>
            </a:r>
            <a:endParaRPr sz="3000" b="1" noProof="1">
              <a:solidFill>
                <a:srgbClr val="E67E22"/>
              </a:solidFill>
              <a:latin typeface="QuattrocentoSans"/>
              <a:ea typeface="alimamashuheiti"/>
            </a:endParaRPr>
          </a:p>
        </p:txBody>
      </p:sp>
      <p:sp>
        <p:nvSpPr>
          <p:cNvPr id="15" name="dsl:toc-card3-title"/>
          <p:cNvSpPr txBox="1"/>
          <p:nvPr/>
        </p:nvSpPr>
        <p:spPr>
          <a:xfrm>
            <a:off x="4667250" y="4381500"/>
            <a:ext cx="2952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3E50"/>
                </a:solidFill>
                <a:latin typeface="QuattrocentoSans"/>
                <a:ea typeface="alimamashuheiti"/>
              </a:rPr>
              <a:t>关键技术亮点</a:t>
            </a:r>
            <a:endParaRPr sz="15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16" name="dsl:toc-card3-desc"/>
          <p:cNvSpPr txBox="1"/>
          <p:nvPr/>
        </p:nvSpPr>
        <p:spPr>
          <a:xfrm>
            <a:off x="4667250" y="4762500"/>
            <a:ext cx="295275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95A5A6"/>
                </a:solidFill>
                <a:latin typeface="QuattrocentoSans"/>
                <a:ea typeface="MiSans"/>
              </a:rPr>
              <a:t>设计模式、协议实现、动态配置、数据管理</a:t>
            </a:r>
            <a:endParaRPr sz="1050" noProof="1">
              <a:solidFill>
                <a:srgbClr val="95A5A6"/>
              </a:solidFill>
              <a:latin typeface="QuattrocentoSans"/>
              <a:ea typeface="MiSans"/>
            </a:endParaRPr>
          </a:p>
        </p:txBody>
      </p:sp>
      <p:sp>
        <p:nvSpPr>
          <p:cNvPr id="17" name="dsl:toc-card4-bg"/>
          <p:cNvSpPr/>
          <p:nvPr/>
        </p:nvSpPr>
        <p:spPr>
          <a:xfrm>
            <a:off x="8096250" y="3524250"/>
            <a:ext cx="3524250" cy="20955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toc-card4-num"/>
          <p:cNvSpPr txBox="1"/>
          <p:nvPr/>
        </p:nvSpPr>
        <p:spPr>
          <a:xfrm>
            <a:off x="8382000" y="3810000"/>
            <a:ext cx="76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000" b="1" noProof="1">
                <a:solidFill>
                  <a:srgbClr val="E67E22"/>
                </a:solidFill>
                <a:latin typeface="QuattrocentoSans"/>
                <a:ea typeface="alimamashuheiti"/>
              </a:rPr>
              <a:t>04</a:t>
            </a:r>
            <a:endParaRPr sz="3000" b="1" noProof="1">
              <a:solidFill>
                <a:srgbClr val="E67E22"/>
              </a:solidFill>
              <a:latin typeface="QuattrocentoSans"/>
              <a:ea typeface="alimamashuheiti"/>
            </a:endParaRPr>
          </a:p>
        </p:txBody>
      </p:sp>
      <p:sp>
        <p:nvSpPr>
          <p:cNvPr id="19" name="dsl:toc-card4-title"/>
          <p:cNvSpPr txBox="1"/>
          <p:nvPr/>
        </p:nvSpPr>
        <p:spPr>
          <a:xfrm>
            <a:off x="8382000" y="4381500"/>
            <a:ext cx="2952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3E50"/>
                </a:solidFill>
                <a:latin typeface="QuattrocentoSans"/>
                <a:ea typeface="alimamashuheiti"/>
              </a:rPr>
              <a:t>项目成果与展望</a:t>
            </a:r>
            <a:endParaRPr sz="15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20" name="dsl:toc-card4-desc"/>
          <p:cNvSpPr txBox="1"/>
          <p:nvPr/>
        </p:nvSpPr>
        <p:spPr>
          <a:xfrm>
            <a:off x="8382000" y="4762500"/>
            <a:ext cx="295275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95A5A6"/>
                </a:solidFill>
                <a:latin typeface="QuattrocentoSans"/>
                <a:ea typeface="MiSans"/>
              </a:rPr>
              <a:t>已完成工作、待完善事项、未来方向</a:t>
            </a:r>
            <a:endParaRPr sz="1050" noProof="1">
              <a:solidFill>
                <a:srgbClr val="95A5A6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1-hero-num|s=$heroNumber"/>
          <p:cNvSpPr txBox="1"/>
          <p:nvPr/>
        </p:nvSpPr>
        <p:spPr>
          <a:xfrm>
            <a:off x="571500" y="1524000"/>
            <a:ext cx="2857500" cy="1143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0" b="1" noProof="1">
                <a:solidFill>
                  <a:srgbClr val="FFFFFF">
                    <a:alpha val="9411"/>
                  </a:srgbClr>
                </a:solidFill>
                <a:latin typeface="QuattrocentoSans"/>
                <a:ea typeface="alimamashuheiti"/>
              </a:rPr>
              <a:t>01</a:t>
            </a:r>
            <a:endParaRPr sz="9000" b="1" noProof="1">
              <a:solidFill>
                <a:srgbClr val="FFFFFF">
                  <a:alpha val="9411"/>
                </a:srgbClr>
              </a:solidFill>
              <a:latin typeface="QuattrocentoSans"/>
              <a:ea typeface="alimamashuheiti"/>
            </a:endParaRPr>
          </a:p>
        </p:txBody>
      </p:sp>
      <p:sp>
        <p:nvSpPr>
          <p:cNvPr id="3" name="dsl:ch1-accent-line"/>
          <p:cNvSpPr/>
          <p:nvPr/>
        </p:nvSpPr>
        <p:spPr>
          <a:xfrm>
            <a:off x="571500" y="2952750"/>
            <a:ext cx="571500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1-title"/>
          <p:cNvSpPr txBox="1"/>
          <p:nvPr/>
        </p:nvSpPr>
        <p:spPr>
          <a:xfrm>
            <a:off x="571500" y="3143250"/>
            <a:ext cx="5715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b="1" noProof="1">
                <a:solidFill>
                  <a:srgbClr val="FFFFFF"/>
                </a:solidFill>
                <a:latin typeface="QuattrocentoSans"/>
                <a:ea typeface="alimamashuheiti"/>
              </a:rPr>
              <a:t>项目背景与定位</a:t>
            </a:r>
            <a:endParaRPr sz="2700" b="1" noProof="1">
              <a:solidFill>
                <a:srgbClr val="FFFFFF"/>
              </a:solidFill>
              <a:latin typeface="QuattrocentoSans"/>
              <a:ea typeface="alimamashuheiti"/>
            </a:endParaRPr>
          </a:p>
        </p:txBody>
      </p:sp>
      <p:sp>
        <p:nvSpPr>
          <p:cNvPr id="5" name="dsl:ch1-subtitle"/>
          <p:cNvSpPr txBox="1"/>
          <p:nvPr/>
        </p:nvSpPr>
        <p:spPr>
          <a:xfrm>
            <a:off x="571500" y="3714750"/>
            <a:ext cx="571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BDC3C7"/>
                </a:solidFill>
                <a:latin typeface="QuattrocentoSans"/>
                <a:ea typeface="MiSans"/>
              </a:rPr>
              <a:t>了解 beacon-cloud 是什么、解决什么问题、使用什么技术</a:t>
            </a:r>
            <a:endParaRPr sz="13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429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tive"/>
          <p:cNvSpPr/>
          <p:nvPr/>
        </p:nvSpPr>
        <p:spPr>
          <a:xfrm>
            <a:off x="0" y="304800"/>
            <a:ext cx="3048000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text1|s=$nav"/>
          <p:cNvSpPr txBox="1"/>
          <p:nvPr/>
        </p:nvSpPr>
        <p:spPr>
          <a:xfrm>
            <a:off x="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E67E22"/>
                </a:solidFill>
                <a:latin typeface="QuattrocentoSans"/>
                <a:ea typeface="MiSans"/>
              </a:rPr>
              <a:t>项目背景与定位</a:t>
            </a:r>
            <a:endParaRPr sz="1050" noProof="1">
              <a:solidFill>
                <a:srgbClr val="E67E22"/>
              </a:solidFill>
              <a:latin typeface="QuattrocentoSans"/>
              <a:ea typeface="MiSans"/>
            </a:endParaRPr>
          </a:p>
        </p:txBody>
      </p:sp>
      <p:sp>
        <p:nvSpPr>
          <p:cNvPr id="5" name="dsl:nav-text2|s=$nav"/>
          <p:cNvSpPr txBox="1"/>
          <p:nvPr/>
        </p:nvSpPr>
        <p:spPr>
          <a:xfrm>
            <a:off x="3048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系统架构设计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6" name="dsl:nav-text3|s=$nav"/>
          <p:cNvSpPr txBox="1"/>
          <p:nvPr/>
        </p:nvSpPr>
        <p:spPr>
          <a:xfrm>
            <a:off x="6096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关键技术亮点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7" name="dsl:nav-text4|s=$nav"/>
          <p:cNvSpPr txBox="1"/>
          <p:nvPr/>
        </p:nvSpPr>
        <p:spPr>
          <a:xfrm>
            <a:off x="9144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项目成果与展望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8" name="dsl:pos-accent-bar"/>
          <p:cNvSpPr/>
          <p:nvPr/>
        </p:nvSpPr>
        <p:spPr>
          <a:xfrm>
            <a:off x="571500" y="533400"/>
            <a:ext cx="38100" cy="2667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pos-title|s=$title"/>
          <p:cNvSpPr txBox="1"/>
          <p:nvPr/>
        </p:nvSpPr>
        <p:spPr>
          <a:xfrm>
            <a:off x="723900" y="476250"/>
            <a:ext cx="4762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b="1" noProof="1">
                <a:solidFill>
                  <a:srgbClr val="2C3E50"/>
                </a:solidFill>
                <a:latin typeface="QuattrocentoSans"/>
                <a:ea typeface="alimamashuheiti"/>
              </a:rPr>
              <a:t>项目定位与核心业务</a:t>
            </a:r>
            <a:endParaRPr sz="21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10" name="dsl:pos-desc-bg"/>
          <p:cNvSpPr/>
          <p:nvPr/>
        </p:nvSpPr>
        <p:spPr>
          <a:xfrm>
            <a:off x="571500" y="1047750"/>
            <a:ext cx="11049000" cy="104775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pos-desc-icon|i=fas:comment-dots" descr="tmprvswgc2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238250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pos-desc-text|s=$body"/>
          <p:cNvSpPr txBox="1"/>
          <p:nvPr/>
        </p:nvSpPr>
        <p:spPr>
          <a:xfrm>
            <a:off x="1333500" y="1143000"/>
            <a:ext cx="10096500" cy="857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2C3E50"/>
                </a:solidFill>
                <a:latin typeface="QuattrocentoSans"/>
                <a:ea typeface="MiSans"/>
              </a:rPr>
              <a:t>beacon-cloud 是一个基于 </a:t>
            </a:r>
            <a:r>
              <a:rPr sz="1350" b="1" noProof="1">
                <a:solidFill>
                  <a:srgbClr val="2C3E50"/>
                </a:solidFill>
                <a:latin typeface="QuattrocentoSans"/>
                <a:ea typeface="MiSans"/>
              </a:rPr>
              <a:t>Spring Cloud 微服务架构</a:t>
            </a:r>
            <a:r>
              <a:rPr sz="1350" noProof="1">
                <a:solidFill>
                  <a:srgbClr val="2C3E50"/>
                </a:solidFill>
                <a:latin typeface="QuattrocentoSans"/>
                <a:ea typeface="MiSans"/>
              </a:rPr>
              <a:t>的分布式短信平台（SMS Gateway Platform），提供从 API 接入、校验、策略路由到运营商通道下发的完整短信发送链路，并配套管理后台、数据同步、搜索和监控能力。</a:t>
            </a:r>
            <a:endParaRPr sz="1350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13" name="dsl:pos-scene-title|s=$subtitle"/>
          <p:cNvSpPr txBox="1"/>
          <p:nvPr/>
        </p:nvSpPr>
        <p:spPr>
          <a:xfrm>
            <a:off x="571500" y="2381250"/>
            <a:ext cx="190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3E50"/>
                </a:solidFill>
                <a:latin typeface="QuattrocentoSans"/>
                <a:ea typeface="alimamashuheiti"/>
              </a:rPr>
              <a:t>核心业务场景</a:t>
            </a:r>
            <a:endParaRPr sz="15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14" name="dsl:pos-scene1-bg"/>
          <p:cNvSpPr/>
          <p:nvPr/>
        </p:nvSpPr>
        <p:spPr>
          <a:xfrm>
            <a:off x="571500" y="2857500"/>
            <a:ext cx="3429000" cy="17145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dsl:pos-scene1-icon|i=fas:shield-halved" descr="tmpsa6ag_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0480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pos-scene1-title"/>
          <p:cNvSpPr txBox="1"/>
          <p:nvPr/>
        </p:nvSpPr>
        <p:spPr>
          <a:xfrm>
            <a:off x="1238250" y="3028950"/>
            <a:ext cx="2571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3E50"/>
                </a:solidFill>
                <a:latin typeface="QuattrocentoSans"/>
                <a:ea typeface="alimamashuheiti"/>
              </a:rPr>
              <a:t>验证码短信</a:t>
            </a:r>
            <a:endParaRPr sz="15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17" name="dsl:pos-scene1-desc"/>
          <p:cNvSpPr txBox="1"/>
          <p:nvPr/>
        </p:nvSpPr>
        <p:spPr>
          <a:xfrm>
            <a:off x="762000" y="3476625"/>
            <a:ext cx="30480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登录注册、身份认证、密码找回等场景的快速验证码下发，支持高并发与频次限制。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18" name="dsl:pos-scene2-bg"/>
          <p:cNvSpPr/>
          <p:nvPr/>
        </p:nvSpPr>
        <p:spPr>
          <a:xfrm>
            <a:off x="4381500" y="2857500"/>
            <a:ext cx="3429000" cy="17145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pos-scene2-icon|i=fas:bell" descr="tmpsa6ag_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0480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pos-scene2-title"/>
          <p:cNvSpPr txBox="1"/>
          <p:nvPr/>
        </p:nvSpPr>
        <p:spPr>
          <a:xfrm>
            <a:off x="5048250" y="3028950"/>
            <a:ext cx="2571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3E50"/>
                </a:solidFill>
                <a:latin typeface="QuattrocentoSans"/>
                <a:ea typeface="alimamashuheiti"/>
              </a:rPr>
              <a:t>通知短信</a:t>
            </a:r>
            <a:endParaRPr sz="15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21" name="dsl:pos-scene2-desc"/>
          <p:cNvSpPr txBox="1"/>
          <p:nvPr/>
        </p:nvSpPr>
        <p:spPr>
          <a:xfrm>
            <a:off x="4572000" y="3476625"/>
            <a:ext cx="30480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订单状态、物流通知、系统告警、服务提醒等实时消息推送，确保及时触达。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22" name="dsl:pos-scene3-bg"/>
          <p:cNvSpPr/>
          <p:nvPr/>
        </p:nvSpPr>
        <p:spPr>
          <a:xfrm>
            <a:off x="8191500" y="2857500"/>
            <a:ext cx="3429000" cy="17145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dsl:pos-scene3-icon|i=fas:bullhorn" descr="tmpsa6ag_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30480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4" name="dsl:pos-scene3-title"/>
          <p:cNvSpPr txBox="1"/>
          <p:nvPr/>
        </p:nvSpPr>
        <p:spPr>
          <a:xfrm>
            <a:off x="8858250" y="3028950"/>
            <a:ext cx="2571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3E50"/>
                </a:solidFill>
                <a:latin typeface="QuattrocentoSans"/>
                <a:ea typeface="alimamashuheiti"/>
              </a:rPr>
              <a:t>营销短信</a:t>
            </a:r>
            <a:endParaRPr sz="15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25" name="dsl:pos-scene3-desc"/>
          <p:cNvSpPr txBox="1"/>
          <p:nvPr/>
        </p:nvSpPr>
        <p:spPr>
          <a:xfrm>
            <a:off x="8382000" y="3476625"/>
            <a:ext cx="30480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会员活动、优惠推广、节日祝福等批量营销触达，支持黑名单过滤与敏感词检测。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26" name="dsl:pos-mgmt-title|s=$subtitle"/>
          <p:cNvSpPr txBox="1"/>
          <p:nvPr/>
        </p:nvSpPr>
        <p:spPr>
          <a:xfrm>
            <a:off x="571500" y="485775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3E50"/>
                </a:solidFill>
                <a:latin typeface="QuattrocentoSans"/>
                <a:ea typeface="alimamashuheiti"/>
              </a:rPr>
              <a:t>管理后台覆盖</a:t>
            </a:r>
            <a:endParaRPr sz="15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cxnSp>
        <p:nvCxnSpPr>
          <p:cNvPr id="27" name="dsl:pos-mgmt-line"/>
          <p:cNvCxnSpPr/>
          <p:nvPr/>
        </p:nvCxnSpPr>
        <p:spPr>
          <a:xfrm>
            <a:off x="571500" y="5238750"/>
            <a:ext cx="11049000" cy="0"/>
          </a:xfrm>
          <a:prstGeom prst="straightConnector1">
            <a:avLst/>
          </a:prstGeom>
          <a:ln w="12700">
            <a:solidFill>
              <a:srgbClr val="E0E0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sl:pos-mgmt-items"/>
          <p:cNvSpPr txBox="1"/>
          <p:nvPr/>
        </p:nvSpPr>
        <p:spPr>
          <a:xfrm>
            <a:off x="571500" y="5381625"/>
            <a:ext cx="110490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E67E22"/>
                </a:solidFill>
                <a:latin typeface="QuattrocentoSans"/>
                <a:ea typeface="MiSans"/>
              </a:rPr>
              <a:t>●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 客户管理  </a:t>
            </a:r>
            <a:r>
              <a:rPr sz="1200" noProof="1">
                <a:solidFill>
                  <a:srgbClr val="E67E22"/>
                </a:solidFill>
                <a:latin typeface="QuattrocentoSans"/>
                <a:ea typeface="MiSans"/>
              </a:rPr>
              <a:t>●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 通道管理  </a:t>
            </a:r>
            <a:r>
              <a:rPr sz="1200" noProof="1">
                <a:solidFill>
                  <a:srgbClr val="E67E22"/>
                </a:solidFill>
                <a:latin typeface="QuattrocentoSans"/>
                <a:ea typeface="MiSans"/>
              </a:rPr>
              <a:t>●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 黑名单  </a:t>
            </a:r>
            <a:r>
              <a:rPr sz="1200" noProof="1">
                <a:solidFill>
                  <a:srgbClr val="E67E22"/>
                </a:solidFill>
                <a:latin typeface="QuattrocentoSans"/>
                <a:ea typeface="MiSans"/>
              </a:rPr>
              <a:t>●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 敏感词  </a:t>
            </a:r>
            <a:r>
              <a:rPr sz="1200" noProof="1">
                <a:solidFill>
                  <a:srgbClr val="E67E22"/>
                </a:solidFill>
                <a:latin typeface="QuattrocentoSans"/>
                <a:ea typeface="MiSans"/>
              </a:rPr>
              <a:t>●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 计费充值  </a:t>
            </a:r>
            <a:r>
              <a:rPr sz="1200" noProof="1">
                <a:solidFill>
                  <a:srgbClr val="E67E22"/>
                </a:solidFill>
                <a:latin typeface="QuattrocentoSans"/>
                <a:ea typeface="MiSans"/>
              </a:rPr>
              <a:t>●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 报表统计  </a:t>
            </a:r>
            <a:r>
              <a:rPr sz="1200" noProof="1">
                <a:solidFill>
                  <a:srgbClr val="E67E22"/>
                </a:solidFill>
                <a:latin typeface="QuattrocentoSans"/>
                <a:ea typeface="MiSans"/>
              </a:rPr>
              <a:t>●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 系统配置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29" name="dsl:pos-page-num|s=$caption"/>
          <p:cNvSpPr txBox="1"/>
          <p:nvPr/>
        </p:nvSpPr>
        <p:spPr>
          <a:xfrm>
            <a:off x="11334750" y="6572250"/>
            <a:ext cx="47625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95A5A6"/>
                </a:solidFill>
                <a:latin typeface="QuattrocentoSans"/>
                <a:ea typeface="MiSans"/>
              </a:rPr>
              <a:t>4 / 15</a:t>
            </a:r>
            <a:endParaRPr sz="900" noProof="1">
              <a:solidFill>
                <a:srgbClr val="95A5A6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429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tive"/>
          <p:cNvSpPr/>
          <p:nvPr/>
        </p:nvSpPr>
        <p:spPr>
          <a:xfrm>
            <a:off x="0" y="304800"/>
            <a:ext cx="3048000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text1|s=$nav"/>
          <p:cNvSpPr txBox="1"/>
          <p:nvPr/>
        </p:nvSpPr>
        <p:spPr>
          <a:xfrm>
            <a:off x="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E67E22"/>
                </a:solidFill>
                <a:latin typeface="QuattrocentoSans"/>
                <a:ea typeface="MiSans"/>
              </a:rPr>
              <a:t>项目背景与定位</a:t>
            </a:r>
            <a:endParaRPr sz="1050" noProof="1">
              <a:solidFill>
                <a:srgbClr val="E67E22"/>
              </a:solidFill>
              <a:latin typeface="QuattrocentoSans"/>
              <a:ea typeface="MiSans"/>
            </a:endParaRPr>
          </a:p>
        </p:txBody>
      </p:sp>
      <p:sp>
        <p:nvSpPr>
          <p:cNvPr id="5" name="dsl:nav-text2|s=$nav"/>
          <p:cNvSpPr txBox="1"/>
          <p:nvPr/>
        </p:nvSpPr>
        <p:spPr>
          <a:xfrm>
            <a:off x="3048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系统架构设计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6" name="dsl:nav-text3|s=$nav"/>
          <p:cNvSpPr txBox="1"/>
          <p:nvPr/>
        </p:nvSpPr>
        <p:spPr>
          <a:xfrm>
            <a:off x="6096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关键技术亮点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7" name="dsl:nav-text4|s=$nav"/>
          <p:cNvSpPr txBox="1"/>
          <p:nvPr/>
        </p:nvSpPr>
        <p:spPr>
          <a:xfrm>
            <a:off x="9144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项目成果与展望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8" name="dsl:tech-accent-bar"/>
          <p:cNvSpPr/>
          <p:nvPr/>
        </p:nvSpPr>
        <p:spPr>
          <a:xfrm>
            <a:off x="571500" y="533400"/>
            <a:ext cx="38100" cy="2667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tech-title|s=$title"/>
          <p:cNvSpPr txBox="1"/>
          <p:nvPr/>
        </p:nvSpPr>
        <p:spPr>
          <a:xfrm>
            <a:off x="723900" y="476250"/>
            <a:ext cx="4762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b="1" noProof="1">
                <a:solidFill>
                  <a:srgbClr val="2C3E50"/>
                </a:solidFill>
                <a:latin typeface="QuattrocentoSans"/>
                <a:ea typeface="alimamashuheiti"/>
              </a:rPr>
              <a:t>技术栈一览</a:t>
            </a:r>
            <a:endParaRPr sz="21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graphicFrame>
        <p:nvGraphicFramePr>
          <p:cNvPr id="10" name="dsl:tech-table"/>
          <p:cNvGraphicFramePr>
            <a:graphicFrameLocks noGrp="1"/>
          </p:cNvGraphicFramePr>
          <p:nvPr/>
        </p:nvGraphicFramePr>
        <p:xfrm>
          <a:off x="571500" y="1047750"/>
          <a:ext cx="11049000" cy="50482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30780"/>
                <a:gridCol w="4419600"/>
                <a:gridCol w="4198620"/>
              </a:tblGrid>
              <a:tr h="40386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层面</a:t>
                      </a:r>
                      <a:endParaRPr sz="1200" b="1" noProof="1">
                        <a:solidFill>
                          <a:srgbClr val="FFFFFF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技术选型</a:t>
                      </a:r>
                      <a:endParaRPr sz="1200" b="1" noProof="1">
                        <a:solidFill>
                          <a:srgbClr val="FFFFFF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版本 / 地址</a:t>
                      </a:r>
                      <a:endParaRPr sz="1200" b="1" noProof="1">
                        <a:solidFill>
                          <a:srgbClr val="FFFFFF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</a:tr>
              <a:tr h="580548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基础框架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Spring Boot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2.3.12.RELEASE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</a:tr>
              <a:tr h="580548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微服务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Spring Cloud + Spring Cloud Alibaba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Hoxton.SR12 / 2.2.6.RELEASE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</a:tr>
              <a:tr h="580548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注册/配置中心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Nacos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192.168.113.3:8848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</a:tr>
              <a:tr h="580548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消息队列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RabbitMQ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192.168.113.3:5672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</a:tr>
              <a:tr h="580548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缓存/数据库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Redis + MySQL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192.168.113.3:6379 / beacon_cloud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</a:tr>
              <a:tr h="580548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搜索引擎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Elasticsearch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192.168.113.3:9200 (双节点)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</a:tr>
              <a:tr h="580548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任务调度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XXL-Job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192.168.113.3:8080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</a:tr>
              <a:tr h="580548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短信协议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CMPP (Netty 4)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中国移动点对点协议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</a:tr>
            </a:tbl>
          </a:graphicData>
        </a:graphic>
      </p:graphicFrame>
      <p:sp>
        <p:nvSpPr>
          <p:cNvPr id="11" name="dsl:tech-page-num|s=$caption"/>
          <p:cNvSpPr txBox="1"/>
          <p:nvPr/>
        </p:nvSpPr>
        <p:spPr>
          <a:xfrm>
            <a:off x="11334750" y="6572250"/>
            <a:ext cx="47625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95A5A6"/>
                </a:solidFill>
                <a:latin typeface="QuattrocentoSans"/>
                <a:ea typeface="MiSans"/>
              </a:rPr>
              <a:t>5 / 15</a:t>
            </a:r>
            <a:endParaRPr sz="900" noProof="1">
              <a:solidFill>
                <a:srgbClr val="95A5A6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2-hero-num|s=$heroNumber"/>
          <p:cNvSpPr txBox="1"/>
          <p:nvPr/>
        </p:nvSpPr>
        <p:spPr>
          <a:xfrm>
            <a:off x="571500" y="1524000"/>
            <a:ext cx="2857500" cy="1143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0" b="1" noProof="1">
                <a:solidFill>
                  <a:srgbClr val="FFFFFF">
                    <a:alpha val="9411"/>
                  </a:srgbClr>
                </a:solidFill>
                <a:latin typeface="QuattrocentoSans"/>
                <a:ea typeface="alimamashuheiti"/>
              </a:rPr>
              <a:t>02</a:t>
            </a:r>
            <a:endParaRPr sz="9000" b="1" noProof="1">
              <a:solidFill>
                <a:srgbClr val="FFFFFF">
                  <a:alpha val="9411"/>
                </a:srgbClr>
              </a:solidFill>
              <a:latin typeface="QuattrocentoSans"/>
              <a:ea typeface="alimamashuheiti"/>
            </a:endParaRPr>
          </a:p>
        </p:txBody>
      </p:sp>
      <p:sp>
        <p:nvSpPr>
          <p:cNvPr id="3" name="dsl:ch2-accent-line"/>
          <p:cNvSpPr/>
          <p:nvPr/>
        </p:nvSpPr>
        <p:spPr>
          <a:xfrm>
            <a:off x="571500" y="2952750"/>
            <a:ext cx="571500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2-title"/>
          <p:cNvSpPr txBox="1"/>
          <p:nvPr/>
        </p:nvSpPr>
        <p:spPr>
          <a:xfrm>
            <a:off x="571500" y="3143250"/>
            <a:ext cx="5715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b="1" noProof="1">
                <a:solidFill>
                  <a:srgbClr val="FFFFFF"/>
                </a:solidFill>
                <a:latin typeface="QuattrocentoSans"/>
                <a:ea typeface="alimamashuheiti"/>
              </a:rPr>
              <a:t>系统架构设计</a:t>
            </a:r>
            <a:endParaRPr sz="2700" b="1" noProof="1">
              <a:solidFill>
                <a:srgbClr val="FFFFFF"/>
              </a:solidFill>
              <a:latin typeface="QuattrocentoSans"/>
              <a:ea typeface="alimamashuheiti"/>
            </a:endParaRPr>
          </a:p>
        </p:txBody>
      </p:sp>
      <p:sp>
        <p:nvSpPr>
          <p:cNvPr id="5" name="dsl:ch2-subtitle"/>
          <p:cNvSpPr txBox="1"/>
          <p:nvPr/>
        </p:nvSpPr>
        <p:spPr>
          <a:xfrm>
            <a:off x="571500" y="3714750"/>
            <a:ext cx="571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BDC3C7"/>
                </a:solidFill>
                <a:latin typeface="QuattrocentoSans"/>
                <a:ea typeface="MiSans"/>
              </a:rPr>
              <a:t>微服务拆分、模块职责、核心业务流程</a:t>
            </a:r>
            <a:endParaRPr sz="13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429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tive"/>
          <p:cNvSpPr/>
          <p:nvPr/>
        </p:nvSpPr>
        <p:spPr>
          <a:xfrm>
            <a:off x="3048000" y="304800"/>
            <a:ext cx="3048000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text1|s=$nav"/>
          <p:cNvSpPr txBox="1"/>
          <p:nvPr/>
        </p:nvSpPr>
        <p:spPr>
          <a:xfrm>
            <a:off x="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项目背景与定位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5" name="dsl:nav-text2|s=$nav"/>
          <p:cNvSpPr txBox="1"/>
          <p:nvPr/>
        </p:nvSpPr>
        <p:spPr>
          <a:xfrm>
            <a:off x="3048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E67E22"/>
                </a:solidFill>
                <a:latin typeface="QuattrocentoSans"/>
                <a:ea typeface="MiSans"/>
              </a:rPr>
              <a:t>系统架构设计</a:t>
            </a:r>
            <a:endParaRPr sz="1050" noProof="1">
              <a:solidFill>
                <a:srgbClr val="E67E22"/>
              </a:solidFill>
              <a:latin typeface="QuattrocentoSans"/>
              <a:ea typeface="MiSans"/>
            </a:endParaRPr>
          </a:p>
        </p:txBody>
      </p:sp>
      <p:sp>
        <p:nvSpPr>
          <p:cNvPr id="6" name="dsl:nav-text3|s=$nav"/>
          <p:cNvSpPr txBox="1"/>
          <p:nvPr/>
        </p:nvSpPr>
        <p:spPr>
          <a:xfrm>
            <a:off x="6096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关键技术亮点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7" name="dsl:nav-text4|s=$nav"/>
          <p:cNvSpPr txBox="1"/>
          <p:nvPr/>
        </p:nvSpPr>
        <p:spPr>
          <a:xfrm>
            <a:off x="9144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项目成果与展望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8" name="dsl:mod-accent-bar"/>
          <p:cNvSpPr/>
          <p:nvPr/>
        </p:nvSpPr>
        <p:spPr>
          <a:xfrm>
            <a:off x="571500" y="533400"/>
            <a:ext cx="38100" cy="2667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mod-title|s=$title"/>
          <p:cNvSpPr txBox="1"/>
          <p:nvPr/>
        </p:nvSpPr>
        <p:spPr>
          <a:xfrm>
            <a:off x="723900" y="476250"/>
            <a:ext cx="571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b="1" noProof="1">
                <a:solidFill>
                  <a:srgbClr val="2C3E50"/>
                </a:solidFill>
                <a:latin typeface="QuattrocentoSans"/>
                <a:ea typeface="alimamashuheiti"/>
              </a:rPr>
              <a:t>模块全景 — 10 个 Maven 子模块</a:t>
            </a:r>
            <a:endParaRPr sz="21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graphicFrame>
        <p:nvGraphicFramePr>
          <p:cNvPr id="10" name="dsl:mod-table"/>
          <p:cNvGraphicFramePr>
            <a:graphicFrameLocks noGrp="1"/>
          </p:cNvGraphicFramePr>
          <p:nvPr/>
        </p:nvGraphicFramePr>
        <p:xfrm>
          <a:off x="571500" y="1047750"/>
          <a:ext cx="11048999" cy="51435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88819"/>
                <a:gridCol w="1325880"/>
                <a:gridCol w="1657350"/>
                <a:gridCol w="6076950"/>
              </a:tblGrid>
              <a:tr h="41148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分组</a:t>
                      </a:r>
                      <a:endParaRPr sz="1200" b="1" noProof="1">
                        <a:solidFill>
                          <a:srgbClr val="FFFFFF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模块</a:t>
                      </a:r>
                      <a:endParaRPr sz="1200" b="1" noProof="1">
                        <a:solidFill>
                          <a:srgbClr val="FFFFFF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端口</a:t>
                      </a:r>
                      <a:endParaRPr sz="1200" b="1" noProof="1">
                        <a:solidFill>
                          <a:srgbClr val="FFFFFF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核心职责</a:t>
                      </a:r>
                      <a:endParaRPr sz="1200" b="1" noProof="1">
                        <a:solidFill>
                          <a:srgbClr val="FFFFFF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</a:tr>
              <a:tr h="473202">
                <a:tc rowSpan="4"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核心链路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beacon-api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10001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API 接入网关，接收短信请求，执行前置校验链，投递到 RabbitMQ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</a:tr>
              <a:tr h="473202">
                <a:tc vMerge="1"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beacon-strategy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18883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策略处理中心，执行二次策略校验（敏感词/黑名单/频次/计费/路由）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</a:tr>
              <a:tr h="473202">
                <a:tc vMerge="1"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beacon-push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18885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推送模块，消费策略消息，按通道路由到具体短信网关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</a:tr>
              <a:tr h="473202">
                <a:tc vMerge="1"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beacon-SmsGateway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18886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短信网关，Netty 实现 CMPP 协议客户端，连接运营商 SMSC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</a:tr>
              <a:tr h="473202">
                <a:tc rowSpan="3"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数据与缓存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beacon-cache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18882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Redis 缓存服务封装，提供 REST API 供其他模块调用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</a:tr>
              <a:tr h="473202">
                <a:tc vMerge="1"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beacon-synchronization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-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数据同步模块，MySQL ↔ Redis 双向同步，管理实体与 Mapper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</a:tr>
              <a:tr h="473202">
                <a:tc vMerge="1"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beacon-search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18884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Elasticsearch 搜索服务，提供短信发送记录检索和报表能力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</a:tr>
              <a:tr h="473202">
                <a:tc rowSpan="2"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运维管理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beacon-monitor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18887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监控告警模块，集成 XXL-Job 定时任务 + 邮件告警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</a:tr>
              <a:tr h="473202">
                <a:tc vMerge="1"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beacon-webmaster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QuattrocentoSans"/>
                          <a:ea typeface="MiSans"/>
                          <a:sym typeface="+mn-ea"/>
                        </a:rPr>
                        <a:t>1888</a:t>
                      </a:r>
                      <a:r>
                        <a:rPr lang="en-US" sz="1200">
                          <a:solidFill>
                            <a:srgbClr val="2C3E50"/>
                          </a:solidFill>
                          <a:latin typeface="QuattrocentoSans"/>
                          <a:ea typeface="MiSans"/>
                          <a:sym typeface="+mn-ea"/>
                        </a:rPr>
                        <a:t>8</a:t>
                      </a:r>
                      <a:endParaRPr lang="en-US"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  <a:sym typeface="+mn-ea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管理后台，Spring Boot + Shiro + MyBatis + 原生 HTML/JS 前端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</a:tr>
              <a:tr h="473202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公共模块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beacon-common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-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公共常量、枚举、异常、工具类（SnowFlake、JsonUtil 等）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</a:tr>
            </a:tbl>
          </a:graphicData>
        </a:graphic>
      </p:graphicFrame>
      <p:sp>
        <p:nvSpPr>
          <p:cNvPr id="11" name="dsl:mod-page-num|s=$caption"/>
          <p:cNvSpPr txBox="1"/>
          <p:nvPr/>
        </p:nvSpPr>
        <p:spPr>
          <a:xfrm>
            <a:off x="11334750" y="6572250"/>
            <a:ext cx="47625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95A5A6"/>
                </a:solidFill>
                <a:latin typeface="QuattrocentoSans"/>
                <a:ea typeface="MiSans"/>
              </a:rPr>
              <a:t>7 / 15</a:t>
            </a:r>
            <a:endParaRPr sz="900" noProof="1">
              <a:solidFill>
                <a:srgbClr val="95A5A6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429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tive"/>
          <p:cNvSpPr/>
          <p:nvPr/>
        </p:nvSpPr>
        <p:spPr>
          <a:xfrm>
            <a:off x="3048000" y="304800"/>
            <a:ext cx="3048000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text1|s=$nav"/>
          <p:cNvSpPr txBox="1"/>
          <p:nvPr/>
        </p:nvSpPr>
        <p:spPr>
          <a:xfrm>
            <a:off x="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项目背景与定位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5" name="dsl:nav-text2|s=$nav"/>
          <p:cNvSpPr txBox="1"/>
          <p:nvPr/>
        </p:nvSpPr>
        <p:spPr>
          <a:xfrm>
            <a:off x="3048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E67E22"/>
                </a:solidFill>
                <a:latin typeface="QuattrocentoSans"/>
                <a:ea typeface="MiSans"/>
              </a:rPr>
              <a:t>系统架构设计</a:t>
            </a:r>
            <a:endParaRPr sz="1050" noProof="1">
              <a:solidFill>
                <a:srgbClr val="E67E22"/>
              </a:solidFill>
              <a:latin typeface="QuattrocentoSans"/>
              <a:ea typeface="MiSans"/>
            </a:endParaRPr>
          </a:p>
        </p:txBody>
      </p:sp>
      <p:sp>
        <p:nvSpPr>
          <p:cNvPr id="6" name="dsl:nav-text3|s=$nav"/>
          <p:cNvSpPr txBox="1"/>
          <p:nvPr/>
        </p:nvSpPr>
        <p:spPr>
          <a:xfrm>
            <a:off x="6096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关键技术亮点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7" name="dsl:nav-text4|s=$nav"/>
          <p:cNvSpPr txBox="1"/>
          <p:nvPr/>
        </p:nvSpPr>
        <p:spPr>
          <a:xfrm>
            <a:off x="9144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项目成果与展望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8" name="dsl:flow-accent-bar"/>
          <p:cNvSpPr/>
          <p:nvPr/>
        </p:nvSpPr>
        <p:spPr>
          <a:xfrm>
            <a:off x="571500" y="533400"/>
            <a:ext cx="38100" cy="2667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flow-title|s=$title"/>
          <p:cNvSpPr txBox="1"/>
          <p:nvPr/>
        </p:nvSpPr>
        <p:spPr>
          <a:xfrm>
            <a:off x="723900" y="476250"/>
            <a:ext cx="6667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b="1" noProof="1">
                <a:solidFill>
                  <a:srgbClr val="2C3E50"/>
                </a:solidFill>
                <a:latin typeface="QuattrocentoSans"/>
                <a:ea typeface="alimamashuheiti"/>
              </a:rPr>
              <a:t>核心业务流程 — 短信发送全链路</a:t>
            </a:r>
            <a:endParaRPr sz="21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10" name="dsl:flow-stage1-bg"/>
          <p:cNvSpPr/>
          <p:nvPr/>
        </p:nvSpPr>
        <p:spPr>
          <a:xfrm>
            <a:off x="571500" y="1047750"/>
            <a:ext cx="2381250" cy="1905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flow-stage1-title"/>
          <p:cNvSpPr txBox="1"/>
          <p:nvPr/>
        </p:nvSpPr>
        <p:spPr>
          <a:xfrm>
            <a:off x="666750" y="1143000"/>
            <a:ext cx="2190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b="1" noProof="1">
                <a:solidFill>
                  <a:srgbClr val="FFFFFF"/>
                </a:solidFill>
                <a:latin typeface="QuattrocentoSans"/>
                <a:ea typeface="alimamashuheiti"/>
              </a:rPr>
              <a:t>API 接入</a:t>
            </a:r>
            <a:endParaRPr sz="1350" b="1" noProof="1">
              <a:solidFill>
                <a:srgbClr val="FFFFFF"/>
              </a:solidFill>
              <a:latin typeface="QuattrocentoSans"/>
              <a:ea typeface="alimamashuheiti"/>
            </a:endParaRPr>
          </a:p>
        </p:txBody>
      </p:sp>
      <p:sp>
        <p:nvSpPr>
          <p:cNvPr id="12" name="dsl:flow-stage1-port"/>
          <p:cNvSpPr txBox="1"/>
          <p:nvPr/>
        </p:nvSpPr>
        <p:spPr>
          <a:xfrm>
            <a:off x="666750" y="1447800"/>
            <a:ext cx="219075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E67E22"/>
                </a:solidFill>
                <a:latin typeface="QuattrocentoSans"/>
                <a:ea typeface="MiSans"/>
              </a:rPr>
              <a:t>beacon-api :10001</a:t>
            </a:r>
            <a:endParaRPr sz="900" noProof="1">
              <a:solidFill>
                <a:srgbClr val="E67E22"/>
              </a:solidFill>
              <a:latin typeface="QuattrocentoSans"/>
              <a:ea typeface="MiSans"/>
            </a:endParaRPr>
          </a:p>
        </p:txBody>
      </p:sp>
      <p:sp>
        <p:nvSpPr>
          <p:cNvPr id="13" name="dsl:flow-stage1-desc"/>
          <p:cNvSpPr txBox="1"/>
          <p:nvPr/>
        </p:nvSpPr>
        <p:spPr>
          <a:xfrm>
            <a:off x="666750" y="1714500"/>
            <a:ext cx="219075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• 参数校验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• 前置校验链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  apikey→IP→sign→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  template→mobile→fee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cxnSp>
        <p:nvCxnSpPr>
          <p:cNvPr id="14" name="dsl:flow-arrow1"/>
          <p:cNvCxnSpPr/>
          <p:nvPr/>
        </p:nvCxnSpPr>
        <p:spPr>
          <a:xfrm>
            <a:off x="2952750" y="1905000"/>
            <a:ext cx="476250" cy="0"/>
          </a:xfrm>
          <a:prstGeom prst="straightConnector1">
            <a:avLst/>
          </a:prstGeom>
          <a:ln w="25400">
            <a:solidFill>
              <a:srgbClr val="E67E22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flow-mq1"/>
          <p:cNvSpPr/>
          <p:nvPr/>
        </p:nvSpPr>
        <p:spPr>
          <a:xfrm>
            <a:off x="3429000" y="1047750"/>
            <a:ext cx="952500" cy="38100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12700">
            <a:solidFill>
              <a:srgbClr val="95A5A6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flow-mq1-text"/>
          <p:cNvSpPr txBox="1"/>
          <p:nvPr/>
        </p:nvSpPr>
        <p:spPr>
          <a:xfrm>
            <a:off x="3429000" y="1047750"/>
            <a:ext cx="95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2C3E50"/>
                </a:solidFill>
                <a:latin typeface="QuattrocentoSans"/>
                <a:ea typeface="MiSans"/>
              </a:rPr>
              <a:t>SMS_PRE_SEND</a:t>
            </a:r>
            <a:endParaRPr sz="900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17" name="dsl:flow-stage2-bg"/>
          <p:cNvSpPr/>
          <p:nvPr/>
        </p:nvSpPr>
        <p:spPr>
          <a:xfrm>
            <a:off x="4476750" y="1047750"/>
            <a:ext cx="2381250" cy="1905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flow-stage2-title"/>
          <p:cNvSpPr txBox="1"/>
          <p:nvPr/>
        </p:nvSpPr>
        <p:spPr>
          <a:xfrm>
            <a:off x="4572000" y="1143000"/>
            <a:ext cx="2190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b="1" noProof="1">
                <a:solidFill>
                  <a:srgbClr val="FFFFFF"/>
                </a:solidFill>
                <a:latin typeface="QuattrocentoSans"/>
                <a:ea typeface="alimamashuheiti"/>
              </a:rPr>
              <a:t>策略处理</a:t>
            </a:r>
            <a:endParaRPr sz="1350" b="1" noProof="1">
              <a:solidFill>
                <a:srgbClr val="FFFFFF"/>
              </a:solidFill>
              <a:latin typeface="QuattrocentoSans"/>
              <a:ea typeface="alimamashuheiti"/>
            </a:endParaRPr>
          </a:p>
        </p:txBody>
      </p:sp>
      <p:sp>
        <p:nvSpPr>
          <p:cNvPr id="19" name="dsl:flow-stage2-port"/>
          <p:cNvSpPr txBox="1"/>
          <p:nvPr/>
        </p:nvSpPr>
        <p:spPr>
          <a:xfrm>
            <a:off x="4572000" y="1447800"/>
            <a:ext cx="219075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E67E22"/>
                </a:solidFill>
                <a:latin typeface="QuattrocentoSans"/>
                <a:ea typeface="MiSans"/>
              </a:rPr>
              <a:t>beacon-strategy :18883</a:t>
            </a:r>
            <a:endParaRPr sz="900" noProof="1">
              <a:solidFill>
                <a:srgbClr val="E67E22"/>
              </a:solidFill>
              <a:latin typeface="QuattrocentoSans"/>
              <a:ea typeface="MiSans"/>
            </a:endParaRPr>
          </a:p>
        </p:txBody>
      </p:sp>
      <p:sp>
        <p:nvSpPr>
          <p:cNvPr id="20" name="dsl:flow-stage2-desc"/>
          <p:cNvSpPr txBox="1"/>
          <p:nvPr/>
        </p:nvSpPr>
        <p:spPr>
          <a:xfrm>
            <a:off x="4572000" y="1714500"/>
            <a:ext cx="219075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• 号段补全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• 敏感词 DFA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• 黑名单/频次限制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• 计费扣费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• 通道路由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cxnSp>
        <p:nvCxnSpPr>
          <p:cNvPr id="21" name="dsl:flow-arrow2"/>
          <p:cNvCxnSpPr/>
          <p:nvPr/>
        </p:nvCxnSpPr>
        <p:spPr>
          <a:xfrm>
            <a:off x="6858000" y="1905000"/>
            <a:ext cx="476250" cy="0"/>
          </a:xfrm>
          <a:prstGeom prst="straightConnector1">
            <a:avLst/>
          </a:prstGeom>
          <a:ln w="25400">
            <a:solidFill>
              <a:srgbClr val="E67E22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sl:flow-mq2"/>
          <p:cNvSpPr/>
          <p:nvPr/>
        </p:nvSpPr>
        <p:spPr>
          <a:xfrm>
            <a:off x="7334250" y="1047750"/>
            <a:ext cx="952500" cy="38100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12700">
            <a:solidFill>
              <a:srgbClr val="95A5A6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flow-mq2-text"/>
          <p:cNvSpPr txBox="1"/>
          <p:nvPr/>
        </p:nvSpPr>
        <p:spPr>
          <a:xfrm>
            <a:off x="7334250" y="1047750"/>
            <a:ext cx="95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2C3E50"/>
                </a:solidFill>
                <a:latin typeface="QuattrocentoSans"/>
                <a:ea typeface="MiSans"/>
              </a:rPr>
              <a:t>push 队列</a:t>
            </a:r>
            <a:endParaRPr sz="900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24" name="dsl:flow-stage3-bg"/>
          <p:cNvSpPr/>
          <p:nvPr/>
        </p:nvSpPr>
        <p:spPr>
          <a:xfrm>
            <a:off x="8382000" y="1047750"/>
            <a:ext cx="1524000" cy="85725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flow-stage3-title"/>
          <p:cNvSpPr txBox="1"/>
          <p:nvPr/>
        </p:nvSpPr>
        <p:spPr>
          <a:xfrm>
            <a:off x="8477250" y="1123950"/>
            <a:ext cx="1333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b="1" noProof="1">
                <a:solidFill>
                  <a:srgbClr val="FFFFFF"/>
                </a:solidFill>
                <a:latin typeface="QuattrocentoSans"/>
                <a:ea typeface="alimamashuheiti"/>
              </a:rPr>
              <a:t>推送路由</a:t>
            </a:r>
            <a:endParaRPr sz="1200" b="1" noProof="1">
              <a:solidFill>
                <a:srgbClr val="FFFFFF"/>
              </a:solidFill>
              <a:latin typeface="QuattrocentoSans"/>
              <a:ea typeface="alimamashuheiti"/>
            </a:endParaRPr>
          </a:p>
        </p:txBody>
      </p:sp>
      <p:sp>
        <p:nvSpPr>
          <p:cNvPr id="26" name="dsl:flow-stage3-port"/>
          <p:cNvSpPr txBox="1"/>
          <p:nvPr/>
        </p:nvSpPr>
        <p:spPr>
          <a:xfrm>
            <a:off x="8477250" y="1390650"/>
            <a:ext cx="1333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825" noProof="1">
                <a:solidFill>
                  <a:srgbClr val="E67E22"/>
                </a:solidFill>
                <a:latin typeface="QuattrocentoSans"/>
                <a:ea typeface="MiSans"/>
              </a:rPr>
              <a:t>beacon-push :18885</a:t>
            </a:r>
            <a:endParaRPr sz="825" noProof="1">
              <a:solidFill>
                <a:srgbClr val="E67E22"/>
              </a:solidFill>
              <a:latin typeface="QuattrocentoSans"/>
              <a:ea typeface="MiSans"/>
            </a:endParaRPr>
          </a:p>
        </p:txBody>
      </p:sp>
      <p:sp>
        <p:nvSpPr>
          <p:cNvPr id="27" name="dsl:flow-stage3-desc"/>
          <p:cNvSpPr txBox="1"/>
          <p:nvPr/>
        </p:nvSpPr>
        <p:spPr>
          <a:xfrm>
            <a:off x="8477250" y="1581150"/>
            <a:ext cx="1333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BDC3C7"/>
                </a:solidFill>
                <a:latin typeface="QuattrocentoSans"/>
                <a:ea typeface="MiSans"/>
              </a:rPr>
              <a:t>按路由选择通道</a:t>
            </a:r>
            <a:endParaRPr sz="90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cxnSp>
        <p:nvCxnSpPr>
          <p:cNvPr id="28" name="dsl:flow-arrow3"/>
          <p:cNvCxnSpPr/>
          <p:nvPr/>
        </p:nvCxnSpPr>
        <p:spPr>
          <a:xfrm>
            <a:off x="9906000" y="1381125"/>
            <a:ext cx="476250" cy="0"/>
          </a:xfrm>
          <a:prstGeom prst="straightConnector1">
            <a:avLst/>
          </a:prstGeom>
          <a:ln w="25400">
            <a:solidFill>
              <a:srgbClr val="E67E22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sl:flow-mq3"/>
          <p:cNvSpPr/>
          <p:nvPr/>
        </p:nvSpPr>
        <p:spPr>
          <a:xfrm>
            <a:off x="10382250" y="1190625"/>
            <a:ext cx="1238250" cy="38100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12700">
            <a:solidFill>
              <a:srgbClr val="95A5A6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sl:flow-mq3-text"/>
          <p:cNvSpPr txBox="1"/>
          <p:nvPr/>
        </p:nvSpPr>
        <p:spPr>
          <a:xfrm>
            <a:off x="10382250" y="1190625"/>
            <a:ext cx="123825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2C3E50"/>
                </a:solidFill>
                <a:latin typeface="QuattrocentoSans"/>
                <a:ea typeface="MiSans"/>
              </a:rPr>
              <a:t>sms_gateway_topic</a:t>
            </a:r>
            <a:endParaRPr sz="900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31" name="dsl:flow-stage4-bg"/>
          <p:cNvSpPr/>
          <p:nvPr/>
        </p:nvSpPr>
        <p:spPr>
          <a:xfrm>
            <a:off x="8382000" y="2095500"/>
            <a:ext cx="3238500" cy="85725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sl:flow-stage4-title"/>
          <p:cNvSpPr txBox="1"/>
          <p:nvPr/>
        </p:nvSpPr>
        <p:spPr>
          <a:xfrm>
            <a:off x="8477250" y="2171700"/>
            <a:ext cx="3048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b="1" noProof="1">
                <a:solidFill>
                  <a:srgbClr val="FFFFFF"/>
                </a:solidFill>
                <a:latin typeface="QuattrocentoSans"/>
                <a:ea typeface="alimamashuheiti"/>
              </a:rPr>
              <a:t>短信网关 (CMPP)</a:t>
            </a:r>
            <a:endParaRPr sz="1200" b="1" noProof="1">
              <a:solidFill>
                <a:srgbClr val="FFFFFF"/>
              </a:solidFill>
              <a:latin typeface="QuattrocentoSans"/>
              <a:ea typeface="alimamashuheiti"/>
            </a:endParaRPr>
          </a:p>
        </p:txBody>
      </p:sp>
      <p:sp>
        <p:nvSpPr>
          <p:cNvPr id="33" name="dsl:flow-stage4-port"/>
          <p:cNvSpPr txBox="1"/>
          <p:nvPr/>
        </p:nvSpPr>
        <p:spPr>
          <a:xfrm>
            <a:off x="8477250" y="2438400"/>
            <a:ext cx="30480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825" noProof="1">
                <a:solidFill>
                  <a:srgbClr val="E67E22"/>
                </a:solidFill>
                <a:latin typeface="QuattrocentoSans"/>
                <a:ea typeface="MiSans"/>
              </a:rPr>
              <a:t>beacon-SmsGateway :18886</a:t>
            </a:r>
            <a:endParaRPr sz="825" noProof="1">
              <a:solidFill>
                <a:srgbClr val="E67E22"/>
              </a:solidFill>
              <a:latin typeface="QuattrocentoSans"/>
              <a:ea typeface="MiSans"/>
            </a:endParaRPr>
          </a:p>
        </p:txBody>
      </p:sp>
      <p:sp>
        <p:nvSpPr>
          <p:cNvPr id="34" name="dsl:flow-stage4-desc"/>
          <p:cNvSpPr txBox="1"/>
          <p:nvPr/>
        </p:nvSpPr>
        <p:spPr>
          <a:xfrm>
            <a:off x="8477250" y="2628900"/>
            <a:ext cx="3048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00" noProof="1">
                <a:solidFill>
                  <a:srgbClr val="BDC3C7"/>
                </a:solidFill>
                <a:latin typeface="QuattrocentoSans"/>
                <a:ea typeface="MiSans"/>
              </a:rPr>
              <a:t>Netty 连接运营商 SMSC → 短信下发</a:t>
            </a:r>
            <a:endParaRPr sz="90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pic>
        <p:nvPicPr>
          <p:cNvPr id="35" name="dsl:flow-user-icon|i=fas:mobile-screen" descr="tmprvswgc2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0" y="3000375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6" name="dsl:flow-user-text"/>
          <p:cNvSpPr txBox="1"/>
          <p:nvPr/>
        </p:nvSpPr>
        <p:spPr>
          <a:xfrm>
            <a:off x="10191750" y="3095625"/>
            <a:ext cx="1714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2C3E50"/>
                </a:solidFill>
                <a:latin typeface="QuattrocentoSans"/>
                <a:ea typeface="MiSans"/>
              </a:rPr>
              <a:t>用户手机收到短信</a:t>
            </a:r>
            <a:endParaRPr sz="1050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37" name="dsl:flow-detail-title"/>
          <p:cNvSpPr txBox="1"/>
          <p:nvPr/>
        </p:nvSpPr>
        <p:spPr>
          <a:xfrm>
            <a:off x="571500" y="314325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3E50"/>
                </a:solidFill>
                <a:latin typeface="QuattrocentoSans"/>
                <a:ea typeface="alimamashuheiti"/>
              </a:rPr>
              <a:t>校验链详细说明</a:t>
            </a:r>
            <a:endParaRPr sz="15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cxnSp>
        <p:nvCxnSpPr>
          <p:cNvPr id="38" name="dsl:flow-detail-line"/>
          <p:cNvCxnSpPr/>
          <p:nvPr/>
        </p:nvCxnSpPr>
        <p:spPr>
          <a:xfrm>
            <a:off x="571500" y="3524250"/>
            <a:ext cx="11049000" cy="0"/>
          </a:xfrm>
          <a:prstGeom prst="straightConnector1">
            <a:avLst/>
          </a:prstGeom>
          <a:ln w="12700">
            <a:solidFill>
              <a:srgbClr val="E0E0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dsl:flow-check1-bg"/>
          <p:cNvSpPr/>
          <p:nvPr/>
        </p:nvSpPr>
        <p:spPr>
          <a:xfrm>
            <a:off x="571500" y="3714750"/>
            <a:ext cx="1905000" cy="9525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sl:flow-check1-title"/>
          <p:cNvSpPr txBox="1"/>
          <p:nvPr/>
        </p:nvSpPr>
        <p:spPr>
          <a:xfrm>
            <a:off x="666750" y="3790950"/>
            <a:ext cx="1714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b="1" noProof="1">
                <a:solidFill>
                  <a:srgbClr val="2C3E50"/>
                </a:solidFill>
                <a:latin typeface="QuattrocentoSans"/>
                <a:ea typeface="alimamashuheiti"/>
              </a:rPr>
              <a:t>API 校验链</a:t>
            </a:r>
            <a:endParaRPr sz="12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41" name="dsl:flow-check1-desc"/>
          <p:cNvSpPr txBox="1"/>
          <p:nvPr/>
        </p:nvSpPr>
        <p:spPr>
          <a:xfrm>
            <a:off x="666750" y="4057650"/>
            <a:ext cx="1714500" cy="533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2C3E50"/>
                </a:solidFill>
                <a:latin typeface="QuattrocentoSans"/>
                <a:ea typeface="MiSans"/>
              </a:rPr>
              <a:t>apikey→IP→sign→template→mobile→fee</a:t>
            </a:r>
            <a:endParaRPr sz="975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42" name="dsl:flow-check2-bg"/>
          <p:cNvSpPr/>
          <p:nvPr/>
        </p:nvSpPr>
        <p:spPr>
          <a:xfrm>
            <a:off x="2667000" y="3714750"/>
            <a:ext cx="1905000" cy="9525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sl:flow-check2-title"/>
          <p:cNvSpPr txBox="1"/>
          <p:nvPr/>
        </p:nvSpPr>
        <p:spPr>
          <a:xfrm>
            <a:off x="2762250" y="3790950"/>
            <a:ext cx="1714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b="1" noProof="1">
                <a:solidFill>
                  <a:srgbClr val="2C3E50"/>
                </a:solidFill>
                <a:latin typeface="QuattrocentoSans"/>
                <a:ea typeface="alimamashuheiti"/>
              </a:rPr>
              <a:t>策略校验链</a:t>
            </a:r>
            <a:endParaRPr sz="12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44" name="dsl:flow-check2-desc"/>
          <p:cNvSpPr txBox="1"/>
          <p:nvPr/>
        </p:nvSpPr>
        <p:spPr>
          <a:xfrm>
            <a:off x="2762250" y="4057650"/>
            <a:ext cx="1714500" cy="533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2C3E50"/>
                </a:solidFill>
                <a:latin typeface="QuattrocentoSans"/>
                <a:ea typeface="MiSans"/>
              </a:rPr>
              <a:t>号段→敏感词→黑名单→频次→计费→路由</a:t>
            </a:r>
            <a:endParaRPr sz="975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45" name="dsl:flow-check3-bg"/>
          <p:cNvSpPr/>
          <p:nvPr/>
        </p:nvSpPr>
        <p:spPr>
          <a:xfrm>
            <a:off x="4762500" y="3714750"/>
            <a:ext cx="1905000" cy="9525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sl:flow-check3-title"/>
          <p:cNvSpPr txBox="1"/>
          <p:nvPr/>
        </p:nvSpPr>
        <p:spPr>
          <a:xfrm>
            <a:off x="4857750" y="3790950"/>
            <a:ext cx="1714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b="1" noProof="1">
                <a:solidFill>
                  <a:srgbClr val="2C3E50"/>
                </a:solidFill>
                <a:latin typeface="QuattrocentoSans"/>
                <a:ea typeface="alimamashuheiti"/>
              </a:rPr>
              <a:t>消息可靠性</a:t>
            </a:r>
            <a:endParaRPr sz="12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47" name="dsl:flow-check3-desc"/>
          <p:cNvSpPr txBox="1"/>
          <p:nvPr/>
        </p:nvSpPr>
        <p:spPr>
          <a:xfrm>
            <a:off x="4857750" y="4057650"/>
            <a:ext cx="1714500" cy="533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2C3E50"/>
                </a:solidFill>
                <a:latin typeface="QuattrocentoSans"/>
                <a:ea typeface="MiSans"/>
              </a:rPr>
              <a:t>confirm + return 机制，手动 ACK，失败 Reject</a:t>
            </a:r>
            <a:endParaRPr sz="975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48" name="dsl:flow-check4-bg"/>
          <p:cNvSpPr/>
          <p:nvPr/>
        </p:nvSpPr>
        <p:spPr>
          <a:xfrm>
            <a:off x="6858000" y="3714750"/>
            <a:ext cx="1905000" cy="9525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sl:flow-check4-title"/>
          <p:cNvSpPr txBox="1"/>
          <p:nvPr/>
        </p:nvSpPr>
        <p:spPr>
          <a:xfrm>
            <a:off x="6953250" y="3790950"/>
            <a:ext cx="1714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b="1" noProof="1">
                <a:solidFill>
                  <a:srgbClr val="2C3E50"/>
                </a:solidFill>
                <a:latin typeface="QuattrocentoSans"/>
                <a:ea typeface="alimamashuheiti"/>
              </a:rPr>
              <a:t>CMPP 协议</a:t>
            </a:r>
            <a:endParaRPr sz="12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50" name="dsl:flow-check4-desc"/>
          <p:cNvSpPr txBox="1"/>
          <p:nvPr/>
        </p:nvSpPr>
        <p:spPr>
          <a:xfrm>
            <a:off x="6953250" y="4057650"/>
            <a:ext cx="1714500" cy="533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2C3E50"/>
                </a:solidFill>
                <a:latin typeface="QuattrocentoSans"/>
                <a:ea typeface="MiSans"/>
              </a:rPr>
              <a:t>Connect→Submit→Deliver→ActiveTest 心跳</a:t>
            </a:r>
            <a:endParaRPr sz="975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51" name="dsl:flow-check5-bg"/>
          <p:cNvSpPr/>
          <p:nvPr/>
        </p:nvSpPr>
        <p:spPr>
          <a:xfrm>
            <a:off x="8953500" y="3714750"/>
            <a:ext cx="2667000" cy="9525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sl:flow-check5-title"/>
          <p:cNvSpPr txBox="1"/>
          <p:nvPr/>
        </p:nvSpPr>
        <p:spPr>
          <a:xfrm>
            <a:off x="9048750" y="3790950"/>
            <a:ext cx="24765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b="1" noProof="1">
                <a:solidFill>
                  <a:srgbClr val="2C3E50"/>
                </a:solidFill>
                <a:latin typeface="QuattrocentoSans"/>
                <a:ea typeface="alimamashuheiti"/>
              </a:rPr>
              <a:t>动态配置</a:t>
            </a:r>
            <a:endParaRPr sz="12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53" name="dsl:flow-check5-desc"/>
          <p:cNvSpPr txBox="1"/>
          <p:nvPr/>
        </p:nvSpPr>
        <p:spPr>
          <a:xfrm>
            <a:off x="9048750" y="4057650"/>
            <a:ext cx="2476500" cy="533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2C3E50"/>
                </a:solidFill>
                <a:latin typeface="QuattrocentoSans"/>
                <a:ea typeface="MiSans"/>
              </a:rPr>
              <a:t>校验顺序通过 Nacos/Redis 动态配置，@RefreshScope 热更新</a:t>
            </a:r>
            <a:endParaRPr sz="975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54" name="dsl:flow-page-num|s=$caption"/>
          <p:cNvSpPr txBox="1"/>
          <p:nvPr/>
        </p:nvSpPr>
        <p:spPr>
          <a:xfrm>
            <a:off x="11334750" y="6572250"/>
            <a:ext cx="47625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95A5A6"/>
                </a:solidFill>
                <a:latin typeface="QuattrocentoSans"/>
                <a:ea typeface="MiSans"/>
              </a:rPr>
              <a:t>8 / 15</a:t>
            </a:r>
            <a:endParaRPr sz="900" noProof="1">
              <a:solidFill>
                <a:srgbClr val="95A5A6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3-hero-num|s=$heroNumber"/>
          <p:cNvSpPr txBox="1"/>
          <p:nvPr/>
        </p:nvSpPr>
        <p:spPr>
          <a:xfrm>
            <a:off x="571500" y="1524000"/>
            <a:ext cx="2857500" cy="1143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0" b="1" noProof="1">
                <a:solidFill>
                  <a:srgbClr val="FFFFFF">
                    <a:alpha val="9411"/>
                  </a:srgbClr>
                </a:solidFill>
                <a:latin typeface="QuattrocentoSans"/>
                <a:ea typeface="alimamashuheiti"/>
              </a:rPr>
              <a:t>03</a:t>
            </a:r>
            <a:endParaRPr sz="9000" b="1" noProof="1">
              <a:solidFill>
                <a:srgbClr val="FFFFFF">
                  <a:alpha val="9411"/>
                </a:srgbClr>
              </a:solidFill>
              <a:latin typeface="QuattrocentoSans"/>
              <a:ea typeface="alimamashuheiti"/>
            </a:endParaRPr>
          </a:p>
        </p:txBody>
      </p:sp>
      <p:sp>
        <p:nvSpPr>
          <p:cNvPr id="3" name="dsl:ch3-accent-line"/>
          <p:cNvSpPr/>
          <p:nvPr/>
        </p:nvSpPr>
        <p:spPr>
          <a:xfrm>
            <a:off x="571500" y="2952750"/>
            <a:ext cx="571500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3-title"/>
          <p:cNvSpPr txBox="1"/>
          <p:nvPr/>
        </p:nvSpPr>
        <p:spPr>
          <a:xfrm>
            <a:off x="571500" y="3143250"/>
            <a:ext cx="5715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b="1" noProof="1">
                <a:solidFill>
                  <a:srgbClr val="FFFFFF"/>
                </a:solidFill>
                <a:latin typeface="QuattrocentoSans"/>
                <a:ea typeface="alimamashuheiti"/>
              </a:rPr>
              <a:t>关键技术亮点</a:t>
            </a:r>
            <a:endParaRPr sz="2700" b="1" noProof="1">
              <a:solidFill>
                <a:srgbClr val="FFFFFF"/>
              </a:solidFill>
              <a:latin typeface="QuattrocentoSans"/>
              <a:ea typeface="alimamashuheiti"/>
            </a:endParaRPr>
          </a:p>
        </p:txBody>
      </p:sp>
      <p:sp>
        <p:nvSpPr>
          <p:cNvPr id="5" name="dsl:ch3-subtitle"/>
          <p:cNvSpPr txBox="1"/>
          <p:nvPr/>
        </p:nvSpPr>
        <p:spPr>
          <a:xfrm>
            <a:off x="571500" y="3714750"/>
            <a:ext cx="571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BDC3C7"/>
                </a:solidFill>
                <a:latin typeface="QuattrocentoSans"/>
                <a:ea typeface="MiSans"/>
              </a:rPr>
              <a:t>设计模式、协议实现、动态配置、数据管理</a:t>
            </a:r>
            <a:endParaRPr sz="13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429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tive"/>
          <p:cNvSpPr/>
          <p:nvPr/>
        </p:nvSpPr>
        <p:spPr>
          <a:xfrm>
            <a:off x="6096000" y="304800"/>
            <a:ext cx="3048000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text1|s=$nav"/>
          <p:cNvSpPr txBox="1"/>
          <p:nvPr/>
        </p:nvSpPr>
        <p:spPr>
          <a:xfrm>
            <a:off x="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项目背景与定位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5" name="dsl:nav-text2|s=$nav"/>
          <p:cNvSpPr txBox="1"/>
          <p:nvPr/>
        </p:nvSpPr>
        <p:spPr>
          <a:xfrm>
            <a:off x="3048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系统架构设计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6" name="dsl:nav-text3|s=$nav"/>
          <p:cNvSpPr txBox="1"/>
          <p:nvPr/>
        </p:nvSpPr>
        <p:spPr>
          <a:xfrm>
            <a:off x="6096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E67E22"/>
                </a:solidFill>
                <a:latin typeface="QuattrocentoSans"/>
                <a:ea typeface="MiSans"/>
              </a:rPr>
              <a:t>关键技术亮点</a:t>
            </a:r>
            <a:endParaRPr sz="1050" noProof="1">
              <a:solidFill>
                <a:srgbClr val="E67E22"/>
              </a:solidFill>
              <a:latin typeface="QuattrocentoSans"/>
              <a:ea typeface="MiSans"/>
            </a:endParaRPr>
          </a:p>
        </p:txBody>
      </p:sp>
      <p:sp>
        <p:nvSpPr>
          <p:cNvPr id="7" name="dsl:nav-text4|s=$nav"/>
          <p:cNvSpPr txBox="1"/>
          <p:nvPr/>
        </p:nvSpPr>
        <p:spPr>
          <a:xfrm>
            <a:off x="9144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项目成果与展望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8" name="dsl:pat-accent-bar"/>
          <p:cNvSpPr/>
          <p:nvPr/>
        </p:nvSpPr>
        <p:spPr>
          <a:xfrm>
            <a:off x="571500" y="533400"/>
            <a:ext cx="38100" cy="2667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pat-title|s=$title"/>
          <p:cNvSpPr txBox="1"/>
          <p:nvPr/>
        </p:nvSpPr>
        <p:spPr>
          <a:xfrm>
            <a:off x="723900" y="476250"/>
            <a:ext cx="571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b="1" noProof="1">
                <a:solidFill>
                  <a:srgbClr val="2C3E50"/>
                </a:solidFill>
                <a:latin typeface="QuattrocentoSans"/>
                <a:ea typeface="alimamashuheiti"/>
              </a:rPr>
              <a:t>设计模式与技术创新</a:t>
            </a:r>
            <a:endParaRPr sz="21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10" name="dsl:pat-card1-bg"/>
          <p:cNvSpPr/>
          <p:nvPr/>
        </p:nvSpPr>
        <p:spPr>
          <a:xfrm>
            <a:off x="571500" y="1047750"/>
            <a:ext cx="3429000" cy="2286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pat-card1-icon|i=fas:sitemap" descr="tmp72wbsh6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2382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pat-card1-title"/>
          <p:cNvSpPr txBox="1"/>
          <p:nvPr/>
        </p:nvSpPr>
        <p:spPr>
          <a:xfrm>
            <a:off x="1162050" y="1219200"/>
            <a:ext cx="2667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3E50"/>
                </a:solidFill>
                <a:latin typeface="QuattrocentoSans"/>
                <a:ea typeface="alimamashuheiti"/>
              </a:rPr>
              <a:t>策略模式 + 责任链</a:t>
            </a:r>
            <a:endParaRPr sz="15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13" name="dsl:pat-card1-desc"/>
          <p:cNvSpPr txBox="1"/>
          <p:nvPr/>
        </p:nvSpPr>
        <p:spPr>
          <a:xfrm>
            <a:off x="762000" y="1666875"/>
            <a:ext cx="30480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API 和 Strategy 模块使用 XxxFilterContext + Map&lt;String, Filter&gt; 注入实现动态校验链，校验顺序可通过 Nacos/Redis 动态配置。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14" name="dsl:pat-card2-bg"/>
          <p:cNvSpPr/>
          <p:nvPr/>
        </p:nvSpPr>
        <p:spPr>
          <a:xfrm>
            <a:off x="4191000" y="1047750"/>
            <a:ext cx="3429000" cy="2286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dsl:pat-card2-icon|i=fas:bolt" descr="tmp72wbsh6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0" y="12382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pat-card2-title"/>
          <p:cNvSpPr txBox="1"/>
          <p:nvPr/>
        </p:nvSpPr>
        <p:spPr>
          <a:xfrm>
            <a:off x="4781550" y="1219200"/>
            <a:ext cx="2667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3E50"/>
                </a:solidFill>
                <a:latin typeface="QuattrocentoSans"/>
                <a:ea typeface="alimamashuheiti"/>
              </a:rPr>
              <a:t>事件驱动架构</a:t>
            </a:r>
            <a:endParaRPr sz="15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17" name="dsl:pat-card2-desc"/>
          <p:cNvSpPr txBox="1"/>
          <p:nvPr/>
        </p:nvSpPr>
        <p:spPr>
          <a:xfrm>
            <a:off x="4381500" y="1666875"/>
            <a:ext cx="30480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模块间通过 RabbitMQ 解耦，支持 confirm + return 机制保证消息可靠投递，各模块可独立扩缩容。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18" name="dsl:pat-card3-bg"/>
          <p:cNvSpPr/>
          <p:nvPr/>
        </p:nvSpPr>
        <p:spPr>
          <a:xfrm>
            <a:off x="7810500" y="1047750"/>
            <a:ext cx="3810000" cy="2286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pat-card3-icon|i=fas:fingerprint" descr="tmp72wbsh6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2382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pat-card3-title"/>
          <p:cNvSpPr txBox="1"/>
          <p:nvPr/>
        </p:nvSpPr>
        <p:spPr>
          <a:xfrm>
            <a:off x="8401050" y="1219200"/>
            <a:ext cx="3048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3E50"/>
                </a:solidFill>
                <a:latin typeface="QuattrocentoSans"/>
                <a:ea typeface="alimamashuheiti"/>
              </a:rPr>
              <a:t>雪花算法全局 ID</a:t>
            </a:r>
            <a:endParaRPr sz="15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21" name="dsl:pat-card3-desc"/>
          <p:cNvSpPr txBox="1"/>
          <p:nvPr/>
        </p:nvSpPr>
        <p:spPr>
          <a:xfrm>
            <a:off x="8001000" y="1666875"/>
            <a:ext cx="34290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基于 SnowFlakeUtil 生成全局唯一 sequenceId，支撑分布式环境下的高并发短信发送唯一标识。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22" name="dsl:pat-card4-bg"/>
          <p:cNvSpPr/>
          <p:nvPr/>
        </p:nvSpPr>
        <p:spPr>
          <a:xfrm>
            <a:off x="571500" y="3619500"/>
            <a:ext cx="5334000" cy="2286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dsl:pat-card4-icon|i=fas:filter" descr="tmp72wbsh6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81000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4" name="dsl:pat-card4-title"/>
          <p:cNvSpPr txBox="1"/>
          <p:nvPr/>
        </p:nvSpPr>
        <p:spPr>
          <a:xfrm>
            <a:off x="1162050" y="3790950"/>
            <a:ext cx="2667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3E50"/>
                </a:solidFill>
                <a:latin typeface="QuattrocentoSans"/>
                <a:ea typeface="alimamashuheiti"/>
              </a:rPr>
              <a:t>DFA 敏感词过滤</a:t>
            </a:r>
            <a:endParaRPr sz="15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25" name="dsl:pat-card4-desc"/>
          <p:cNvSpPr txBox="1"/>
          <p:nvPr/>
        </p:nvSpPr>
        <p:spPr>
          <a:xfrm>
            <a:off x="762000" y="4238625"/>
            <a:ext cx="49530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敏感词过滤使用确定有限自动机（DFA）实现高效匹配，DirtyWordDFAStrategyFilter 在策略链中快速完成敏感词检测，保障短信内容合规。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26" name="dsl:pat-card5-bg"/>
          <p:cNvSpPr/>
          <p:nvPr/>
        </p:nvSpPr>
        <p:spPr>
          <a:xfrm>
            <a:off x="6096000" y="3619500"/>
            <a:ext cx="5524500" cy="2286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dsl:pat-card5-icon|i=fas:network-wired" descr="tmp72wbsh6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0" y="381000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8" name="dsl:pat-card5-title"/>
          <p:cNvSpPr txBox="1"/>
          <p:nvPr/>
        </p:nvSpPr>
        <p:spPr>
          <a:xfrm>
            <a:off x="6686550" y="3790950"/>
            <a:ext cx="2857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3E50"/>
                </a:solidFill>
                <a:latin typeface="QuattrocentoSans"/>
                <a:ea typeface="alimamashuheiti"/>
              </a:rPr>
              <a:t>CMPP 协议 Netty 实现</a:t>
            </a:r>
            <a:endParaRPr sz="15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29" name="dsl:pat-card5-desc"/>
          <p:cNvSpPr txBox="1"/>
          <p:nvPr/>
        </p:nvSpPr>
        <p:spPr>
          <a:xfrm>
            <a:off x="6286500" y="4238625"/>
            <a:ext cx="51435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基于 Netty 自定义编解码器（CMPPEncoder / CMPPDecoder）实现中国移动点对点协议，完成运营商级短信下发：Connect → Submit → Deliver → ActiveTest 心跳。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30" name="dsl:pat-page-num|s=$caption"/>
          <p:cNvSpPr txBox="1"/>
          <p:nvPr/>
        </p:nvSpPr>
        <p:spPr>
          <a:xfrm>
            <a:off x="11334750" y="6572250"/>
            <a:ext cx="47625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95A5A6"/>
                </a:solidFill>
                <a:latin typeface="QuattrocentoSans"/>
                <a:ea typeface="MiSans"/>
              </a:rPr>
              <a:t>10 / 15</a:t>
            </a:r>
            <a:endParaRPr sz="900" noProof="1">
              <a:solidFill>
                <a:srgbClr val="95A5A6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429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tive"/>
          <p:cNvSpPr/>
          <p:nvPr/>
        </p:nvSpPr>
        <p:spPr>
          <a:xfrm>
            <a:off x="6096000" y="304800"/>
            <a:ext cx="3048000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text1|s=$nav"/>
          <p:cNvSpPr txBox="1"/>
          <p:nvPr/>
        </p:nvSpPr>
        <p:spPr>
          <a:xfrm>
            <a:off x="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项目背景与定位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5" name="dsl:nav-text2|s=$nav"/>
          <p:cNvSpPr txBox="1"/>
          <p:nvPr/>
        </p:nvSpPr>
        <p:spPr>
          <a:xfrm>
            <a:off x="3048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系统架构设计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6" name="dsl:nav-text3|s=$nav"/>
          <p:cNvSpPr txBox="1"/>
          <p:nvPr/>
        </p:nvSpPr>
        <p:spPr>
          <a:xfrm>
            <a:off x="6096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E67E22"/>
                </a:solidFill>
                <a:latin typeface="QuattrocentoSans"/>
                <a:ea typeface="MiSans"/>
              </a:rPr>
              <a:t>关键技术亮点</a:t>
            </a:r>
            <a:endParaRPr sz="1050" noProof="1">
              <a:solidFill>
                <a:srgbClr val="E67E22"/>
              </a:solidFill>
              <a:latin typeface="QuattrocentoSans"/>
              <a:ea typeface="MiSans"/>
            </a:endParaRPr>
          </a:p>
        </p:txBody>
      </p:sp>
      <p:sp>
        <p:nvSpPr>
          <p:cNvPr id="7" name="dsl:nav-text4|s=$nav"/>
          <p:cNvSpPr txBox="1"/>
          <p:nvPr/>
        </p:nvSpPr>
        <p:spPr>
          <a:xfrm>
            <a:off x="9144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项目成果与展望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8" name="dsl:wm-accent-bar"/>
          <p:cNvSpPr/>
          <p:nvPr/>
        </p:nvSpPr>
        <p:spPr>
          <a:xfrm>
            <a:off x="571500" y="533400"/>
            <a:ext cx="38100" cy="2667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wm-title|s=$title"/>
          <p:cNvSpPr txBox="1"/>
          <p:nvPr/>
        </p:nvSpPr>
        <p:spPr>
          <a:xfrm>
            <a:off x="723900" y="476250"/>
            <a:ext cx="6667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b="1" noProof="1">
                <a:solidFill>
                  <a:srgbClr val="2C3E50"/>
                </a:solidFill>
                <a:latin typeface="QuattrocentoSans"/>
                <a:ea typeface="alimamashuheiti"/>
              </a:rPr>
              <a:t>管理后台与数据模型</a:t>
            </a:r>
            <a:endParaRPr sz="21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10" name="dsl:wm-left-bg"/>
          <p:cNvSpPr/>
          <p:nvPr/>
        </p:nvSpPr>
        <p:spPr>
          <a:xfrm>
            <a:off x="571500" y="1047750"/>
            <a:ext cx="5143500" cy="32385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wm-left-icon|i=fas:desktop" descr="tmp72wbsh6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2382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wm-left-title"/>
          <p:cNvSpPr txBox="1"/>
          <p:nvPr/>
        </p:nvSpPr>
        <p:spPr>
          <a:xfrm>
            <a:off x="1162050" y="1219200"/>
            <a:ext cx="2857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3E50"/>
                </a:solidFill>
                <a:latin typeface="QuattrocentoSans"/>
                <a:ea typeface="alimamashuheiti"/>
              </a:rPr>
              <a:t>管理后台技术架构</a:t>
            </a:r>
            <a:endParaRPr sz="15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13" name="dsl:wm-left-desc"/>
          <p:cNvSpPr txBox="1"/>
          <p:nvPr/>
        </p:nvSpPr>
        <p:spPr>
          <a:xfrm>
            <a:off x="762000" y="1666875"/>
            <a:ext cx="47625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b="1" noProof="1">
                <a:solidFill>
                  <a:srgbClr val="2C3E50"/>
                </a:solidFill>
                <a:latin typeface="QuattrocentoSans"/>
                <a:ea typeface="MiSans"/>
              </a:rPr>
              <a:t>后端：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Spring Boot + Shiro + MyBatis + Druid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200" b="1" noProof="1">
                <a:solidFill>
                  <a:srgbClr val="2C3E50"/>
                </a:solidFill>
                <a:latin typeface="QuattrocentoSans"/>
                <a:ea typeface="MiSans"/>
              </a:rPr>
              <a:t>前端：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原生 HTML + JavaScript + jQuery + Layui + ECharts + UEditor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200" b="1" noProof="1">
                <a:solidFill>
                  <a:srgbClr val="2C3E50"/>
                </a:solidFill>
                <a:latin typeface="QuattrocentoSans"/>
                <a:ea typeface="MiSans"/>
              </a:rPr>
              <a:t>数据库：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MySQL (beacon_cloud)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200" b="1" noProof="1">
                <a:solidFill>
                  <a:srgbClr val="2C3E50"/>
                </a:solidFill>
                <a:latin typeface="QuattrocentoSans"/>
                <a:ea typeface="MiSans"/>
              </a:rPr>
              <a:t>核心功能页面：</a:t>
            </a:r>
            <a:endParaRPr sz="1200" b="1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客户管理、通道管理、黑名单、敏感词、充值、报表统计、系统配置、活动管理、API 灰度发布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14" name="dsl:wm-right-bg"/>
          <p:cNvSpPr/>
          <p:nvPr/>
        </p:nvSpPr>
        <p:spPr>
          <a:xfrm>
            <a:off x="5905500" y="1047750"/>
            <a:ext cx="5715000" cy="32385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dsl:wm-right-icon|i=fas:database" descr="tmp72wbsh6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2382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wm-right-title"/>
          <p:cNvSpPr txBox="1"/>
          <p:nvPr/>
        </p:nvSpPr>
        <p:spPr>
          <a:xfrm>
            <a:off x="6496050" y="1219200"/>
            <a:ext cx="2857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3E50"/>
                </a:solidFill>
                <a:latin typeface="QuattrocentoSans"/>
                <a:ea typeface="alimamashuheiti"/>
              </a:rPr>
              <a:t>核心数据表</a:t>
            </a:r>
            <a:endParaRPr sz="15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graphicFrame>
        <p:nvGraphicFramePr>
          <p:cNvPr id="17" name="dsl:wm-right-table"/>
          <p:cNvGraphicFramePr>
            <a:graphicFrameLocks noGrp="1"/>
          </p:cNvGraphicFramePr>
          <p:nvPr/>
        </p:nvGraphicFramePr>
        <p:xfrm>
          <a:off x="6096000" y="1666875"/>
          <a:ext cx="5334000" cy="24764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33600"/>
                <a:gridCol w="3200400"/>
              </a:tblGrid>
              <a:tr h="309562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表名</a:t>
                      </a:r>
                      <a:endParaRPr sz="1200" b="1" noProof="1">
                        <a:solidFill>
                          <a:srgbClr val="FFFFFF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用途</a:t>
                      </a:r>
                      <a:endParaRPr sz="1200" b="1" noProof="1">
                        <a:solidFill>
                          <a:srgbClr val="FFFFFF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</a:tr>
              <a:tr h="309562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client_business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客户业务信息（apikey、IP白名单、回调URL等）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</a:tr>
              <a:tr h="309562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client_sign / template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客户签名与短信模板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</a:tr>
              <a:tr h="309562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channel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通道信息（名称、协议、IP、端口、价格等）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</a:tr>
              <a:tr h="309562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mobile_black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黑名单号码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</a:tr>
              <a:tr h="309562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mobile_dirty_word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敏感词库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</a:tr>
              <a:tr h="309562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mobile_area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手机号段归属地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</a:tr>
              <a:tr h="309562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sms_menu / role / user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管理后台权限（Shiro RBAC）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cxnSp>
        <p:nvCxnSpPr>
          <p:cNvPr id="18" name="dsl:wm-bottom-line"/>
          <p:cNvCxnSpPr/>
          <p:nvPr/>
        </p:nvCxnSpPr>
        <p:spPr>
          <a:xfrm>
            <a:off x="571500" y="4476750"/>
            <a:ext cx="11049000" cy="0"/>
          </a:xfrm>
          <a:prstGeom prst="straightConnector1">
            <a:avLst/>
          </a:prstGeom>
          <a:ln w="12700">
            <a:solidFill>
              <a:srgbClr val="E0E0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wm-bottom-text"/>
          <p:cNvSpPr txBox="1"/>
          <p:nvPr/>
        </p:nvSpPr>
        <p:spPr>
          <a:xfrm>
            <a:off x="571500" y="4667250"/>
            <a:ext cx="110490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b="1" noProof="1">
                <a:solidFill>
                  <a:srgbClr val="2C3E50"/>
                </a:solidFill>
                <a:latin typeface="QuattrocentoSans"/>
                <a:ea typeface="MiSans"/>
              </a:rPr>
              <a:t>代码生成工具：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项目根目录包含 2 个 Python 脚本（generate_webmaster_code.py / v2），用于根据前端接口路径批量生成 webmaster 的 Service/Controller/Mapper/XML 代码，大幅提升开发效率。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  <a:spcBef>
                <a:spcPts val="450"/>
              </a:spcBef>
            </a:pPr>
            <a:r>
              <a:rPr sz="1200" b="1" noProof="1">
                <a:solidFill>
                  <a:srgbClr val="2C3E50"/>
                </a:solidFill>
                <a:latin typeface="QuattrocentoSans"/>
                <a:ea typeface="MiSans"/>
              </a:rPr>
              <a:t>VO 映射层：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Entity 严格匹配 DB 列名（MBG 生成），VO 匹配前端字段名，Controller 层做 Entity→VO 转换，确保前端兼容性与数据库一致性。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20" name="dsl:wm-page-num|s=$caption"/>
          <p:cNvSpPr txBox="1"/>
          <p:nvPr/>
        </p:nvSpPr>
        <p:spPr>
          <a:xfrm>
            <a:off x="11334750" y="6572250"/>
            <a:ext cx="47625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95A5A6"/>
                </a:solidFill>
                <a:latin typeface="QuattrocentoSans"/>
                <a:ea typeface="MiSans"/>
              </a:rPr>
              <a:t>11 / 15</a:t>
            </a:r>
            <a:endParaRPr sz="900" noProof="1">
              <a:solidFill>
                <a:srgbClr val="95A5A6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4-hero-num|s=$heroNumber"/>
          <p:cNvSpPr txBox="1"/>
          <p:nvPr/>
        </p:nvSpPr>
        <p:spPr>
          <a:xfrm>
            <a:off x="571500" y="1524000"/>
            <a:ext cx="2857500" cy="1143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0" b="1" noProof="1">
                <a:solidFill>
                  <a:srgbClr val="FFFFFF">
                    <a:alpha val="9411"/>
                  </a:srgbClr>
                </a:solidFill>
                <a:latin typeface="QuattrocentoSans"/>
                <a:ea typeface="alimamashuheiti"/>
              </a:rPr>
              <a:t>04</a:t>
            </a:r>
            <a:endParaRPr sz="9000" b="1" noProof="1">
              <a:solidFill>
                <a:srgbClr val="FFFFFF">
                  <a:alpha val="9411"/>
                </a:srgbClr>
              </a:solidFill>
              <a:latin typeface="QuattrocentoSans"/>
              <a:ea typeface="alimamashuheiti"/>
            </a:endParaRPr>
          </a:p>
        </p:txBody>
      </p:sp>
      <p:sp>
        <p:nvSpPr>
          <p:cNvPr id="3" name="dsl:ch4-accent-line"/>
          <p:cNvSpPr/>
          <p:nvPr/>
        </p:nvSpPr>
        <p:spPr>
          <a:xfrm>
            <a:off x="571500" y="2952750"/>
            <a:ext cx="571500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4-title"/>
          <p:cNvSpPr txBox="1"/>
          <p:nvPr/>
        </p:nvSpPr>
        <p:spPr>
          <a:xfrm>
            <a:off x="571500" y="3143250"/>
            <a:ext cx="5715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b="1" noProof="1">
                <a:solidFill>
                  <a:srgbClr val="FFFFFF"/>
                </a:solidFill>
                <a:latin typeface="QuattrocentoSans"/>
                <a:ea typeface="alimamashuheiti"/>
              </a:rPr>
              <a:t>项目成果与展望</a:t>
            </a:r>
            <a:endParaRPr sz="2700" b="1" noProof="1">
              <a:solidFill>
                <a:srgbClr val="FFFFFF"/>
              </a:solidFill>
              <a:latin typeface="QuattrocentoSans"/>
              <a:ea typeface="alimamashuheiti"/>
            </a:endParaRPr>
          </a:p>
        </p:txBody>
      </p:sp>
      <p:sp>
        <p:nvSpPr>
          <p:cNvPr id="5" name="dsl:ch4-subtitle"/>
          <p:cNvSpPr txBox="1"/>
          <p:nvPr/>
        </p:nvSpPr>
        <p:spPr>
          <a:xfrm>
            <a:off x="571500" y="3714750"/>
            <a:ext cx="571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BDC3C7"/>
                </a:solidFill>
                <a:latin typeface="QuattrocentoSans"/>
                <a:ea typeface="MiSans"/>
              </a:rPr>
              <a:t>已完成工作、待完善事项、未来方向</a:t>
            </a:r>
            <a:endParaRPr sz="13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429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tive"/>
          <p:cNvSpPr/>
          <p:nvPr/>
        </p:nvSpPr>
        <p:spPr>
          <a:xfrm>
            <a:off x="9144000" y="304800"/>
            <a:ext cx="3048000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text1|s=$nav"/>
          <p:cNvSpPr txBox="1"/>
          <p:nvPr/>
        </p:nvSpPr>
        <p:spPr>
          <a:xfrm>
            <a:off x="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项目背景与定位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5" name="dsl:nav-text2|s=$nav"/>
          <p:cNvSpPr txBox="1"/>
          <p:nvPr/>
        </p:nvSpPr>
        <p:spPr>
          <a:xfrm>
            <a:off x="3048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系统架构设计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6" name="dsl:nav-text3|s=$nav"/>
          <p:cNvSpPr txBox="1"/>
          <p:nvPr/>
        </p:nvSpPr>
        <p:spPr>
          <a:xfrm>
            <a:off x="6096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关键技术亮点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7" name="dsl:nav-text4|s=$nav"/>
          <p:cNvSpPr txBox="1"/>
          <p:nvPr/>
        </p:nvSpPr>
        <p:spPr>
          <a:xfrm>
            <a:off x="9144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E67E22"/>
                </a:solidFill>
                <a:latin typeface="QuattrocentoSans"/>
                <a:ea typeface="MiSans"/>
              </a:rPr>
              <a:t>项目成果与展望</a:t>
            </a:r>
            <a:endParaRPr sz="1050" noProof="1">
              <a:solidFill>
                <a:srgbClr val="E67E22"/>
              </a:solidFill>
              <a:latin typeface="QuattrocentoSans"/>
              <a:ea typeface="MiSans"/>
            </a:endParaRPr>
          </a:p>
        </p:txBody>
      </p:sp>
      <p:sp>
        <p:nvSpPr>
          <p:cNvPr id="8" name="dsl:status-accent-bar"/>
          <p:cNvSpPr/>
          <p:nvPr/>
        </p:nvSpPr>
        <p:spPr>
          <a:xfrm>
            <a:off x="571500" y="533400"/>
            <a:ext cx="38100" cy="2667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status-title|s=$title"/>
          <p:cNvSpPr txBox="1"/>
          <p:nvPr/>
        </p:nvSpPr>
        <p:spPr>
          <a:xfrm>
            <a:off x="723900" y="476250"/>
            <a:ext cx="6667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b="1" noProof="1">
                <a:solidFill>
                  <a:srgbClr val="2C3E50"/>
                </a:solidFill>
                <a:latin typeface="QuattrocentoSans"/>
                <a:ea typeface="alimamashuheiti"/>
              </a:rPr>
              <a:t>项目状态与潜在风险</a:t>
            </a:r>
            <a:endParaRPr sz="21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10" name="dsl:status-done-bg"/>
          <p:cNvSpPr/>
          <p:nvPr/>
        </p:nvSpPr>
        <p:spPr>
          <a:xfrm>
            <a:off x="571500" y="1047750"/>
            <a:ext cx="5334000" cy="257175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status-done-icon|i=fas:circle-check" descr="tmp24n3txb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23825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status-done-title"/>
          <p:cNvSpPr txBox="1"/>
          <p:nvPr/>
        </p:nvSpPr>
        <p:spPr>
          <a:xfrm>
            <a:off x="1123950" y="1219200"/>
            <a:ext cx="28575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3E50"/>
                </a:solidFill>
                <a:latin typeface="QuattrocentoSans"/>
                <a:ea typeface="alimamashuheiti"/>
              </a:rPr>
              <a:t>已完成</a:t>
            </a:r>
            <a:endParaRPr sz="15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13" name="dsl:status-done-text"/>
          <p:cNvSpPr txBox="1"/>
          <p:nvPr/>
        </p:nvSpPr>
        <p:spPr>
          <a:xfrm>
            <a:off x="762000" y="1619250"/>
            <a:ext cx="4953000" cy="1857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27AE60"/>
                </a:solidFill>
                <a:latin typeface="QuattrocentoSans"/>
                <a:ea typeface="MiSans"/>
              </a:rPr>
              <a:t>✓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 核心短信发送链路完整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27AE60"/>
                </a:solidFill>
                <a:latin typeface="QuattrocentoSans"/>
                <a:ea typeface="MiSans"/>
              </a:rPr>
              <a:t>✓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 前置校验链 6 个过滤器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27AE60"/>
                </a:solidFill>
                <a:latin typeface="QuattrocentoSans"/>
                <a:ea typeface="MiSans"/>
              </a:rPr>
              <a:t>✓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 策略校验链 9+ 个过滤器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27AE60"/>
                </a:solidFill>
                <a:latin typeface="QuattrocentoSans"/>
                <a:ea typeface="MiSans"/>
              </a:rPr>
              <a:t>✓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 CMPP 协议 Netty 客户端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27AE60"/>
                </a:solidFill>
                <a:latin typeface="QuattrocentoSans"/>
                <a:ea typeface="MiSans"/>
              </a:rPr>
              <a:t>✓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 管理后台前端 + 后端 CRUD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27AE60"/>
                </a:solidFill>
                <a:latin typeface="QuattrocentoSans"/>
                <a:ea typeface="MiSans"/>
              </a:rPr>
              <a:t>✓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 数据同步模块 + Nacos 配置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14" name="dsl:status-risk-bg"/>
          <p:cNvSpPr/>
          <p:nvPr/>
        </p:nvSpPr>
        <p:spPr>
          <a:xfrm>
            <a:off x="6096000" y="1047750"/>
            <a:ext cx="5524500" cy="257175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dsl:status-risk-icon|i=fas:triangle-exclamation" descr="tmp1cr1fx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23825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status-risk-title"/>
          <p:cNvSpPr txBox="1"/>
          <p:nvPr/>
        </p:nvSpPr>
        <p:spPr>
          <a:xfrm>
            <a:off x="6648450" y="1219200"/>
            <a:ext cx="28575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3E50"/>
                </a:solidFill>
                <a:latin typeface="QuattrocentoSans"/>
                <a:ea typeface="alimamashuheiti"/>
              </a:rPr>
              <a:t>待完善与潜在风险</a:t>
            </a:r>
            <a:endParaRPr sz="15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17" name="dsl:status-risk-text"/>
          <p:cNvSpPr txBox="1"/>
          <p:nvPr/>
        </p:nvSpPr>
        <p:spPr>
          <a:xfrm>
            <a:off x="6286500" y="1619250"/>
            <a:ext cx="5143500" cy="1857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E67E22"/>
                </a:solidFill>
                <a:latin typeface="QuattrocentoSans"/>
                <a:ea typeface="MiSans"/>
              </a:rPr>
              <a:t>⚠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 PhaseStrategyFilter 号段同步逻辑未完成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E67E22"/>
                </a:solidFill>
                <a:latin typeface="QuattrocentoSans"/>
                <a:ea typeface="MiSans"/>
              </a:rPr>
              <a:t>⚠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 敏感词检测后处理逻辑缺失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E67E22"/>
                </a:solidFill>
                <a:latin typeface="QuattrocentoSans"/>
                <a:ea typeface="MiSans"/>
              </a:rPr>
              <a:t>⚠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 Nacos 配置包含明文密码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E67E22"/>
                </a:solidFill>
                <a:latin typeface="QuattrocentoSans"/>
                <a:ea typeface="MiSans"/>
              </a:rPr>
              <a:t>⚠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 核心链路缺少单元测试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E67E22"/>
                </a:solidFill>
                <a:latin typeface="QuattrocentoSans"/>
                <a:ea typeface="MiSans"/>
              </a:rPr>
              <a:t>⚠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 Java 8 + Spring Boot 2.3 版本较旧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E67E22"/>
                </a:solidFill>
                <a:latin typeface="QuattrocentoSans"/>
                <a:ea typeface="MiSans"/>
              </a:rPr>
              <a:t>⚠</a:t>
            </a:r>
            <a:r>
              <a:rPr sz="1200" noProof="1">
                <a:solidFill>
                  <a:srgbClr val="2C3E50"/>
                </a:solidFill>
                <a:latin typeface="QuattrocentoSans"/>
                <a:ea typeface="MiSans"/>
              </a:rPr>
              <a:t> 消息 Reject 后不重新入队，可能丢失</a:t>
            </a:r>
            <a:endParaRPr sz="1200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18" name="dsl:status-missing-title"/>
          <p:cNvSpPr txBox="1"/>
          <p:nvPr/>
        </p:nvSpPr>
        <p:spPr>
          <a:xfrm>
            <a:off x="571500" y="3810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2C3E50"/>
                </a:solidFill>
                <a:latin typeface="QuattrocentoSans"/>
                <a:ea typeface="alimamashuheiti"/>
              </a:rPr>
              <a:t>待完善的 Controller 接口</a:t>
            </a:r>
            <a:endParaRPr sz="15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cxnSp>
        <p:nvCxnSpPr>
          <p:cNvPr id="19" name="dsl:status-missing-line"/>
          <p:cNvCxnSpPr/>
          <p:nvPr/>
        </p:nvCxnSpPr>
        <p:spPr>
          <a:xfrm>
            <a:off x="571500" y="4191000"/>
            <a:ext cx="11049000" cy="0"/>
          </a:xfrm>
          <a:prstGeom prst="straightConnector1">
            <a:avLst/>
          </a:prstGeom>
          <a:ln w="12700">
            <a:solidFill>
              <a:srgbClr val="E0E0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dsl:status-missing-table"/>
          <p:cNvGraphicFramePr>
            <a:graphicFrameLocks noGrp="1"/>
          </p:cNvGraphicFramePr>
          <p:nvPr/>
        </p:nvGraphicFramePr>
        <p:xfrm>
          <a:off x="571500" y="4333875"/>
          <a:ext cx="11049000" cy="18097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62250"/>
                <a:gridCol w="3867150"/>
                <a:gridCol w="4419600"/>
              </a:tblGrid>
              <a:tr h="452437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前端 JS</a:t>
                      </a:r>
                      <a:endParaRPr sz="1200" b="1" noProof="1">
                        <a:solidFill>
                          <a:srgbClr val="FFFFFF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需要接口</a:t>
                      </a:r>
                      <a:endParaRPr sz="1200" b="1" noProof="1">
                        <a:solidFill>
                          <a:srgbClr val="FFFFFF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状态</a:t>
                      </a:r>
                      <a:endParaRPr sz="1200" b="1" noProof="1">
                        <a:solidFill>
                          <a:srgbClr val="FFFFFF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</a:tr>
              <a:tr h="452437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role.js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8 个 /system/role/* 接口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无 Controller，需建 sms_role_menu 关联表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</a:tr>
              <a:tr h="452437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smstemp.js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6 个 /sys/smstemp/* 接口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无 sms_template 表及 Entity/Mapper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5F3F0"/>
                    </a:solidFill>
                  </a:tcPr>
                </a:tc>
              </a:tr>
              <a:tr h="452437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smssend.js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2 个 /sys/sms/save/update 接口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200" noProof="1">
                          <a:solidFill>
                            <a:srgbClr val="2C3E50"/>
                          </a:solidFill>
                          <a:latin typeface="QuattrocentoSans"/>
                          <a:ea typeface="MiSans"/>
                        </a:rPr>
                        <a:t>需 Feign 调用 beacon-api 发送短信</a:t>
                      </a:r>
                      <a:endParaRPr sz="1200" noProof="1">
                        <a:solidFill>
                          <a:srgbClr val="2C3E50"/>
                        </a:solidFill>
                        <a:latin typeface="Quattrocento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21" name="dsl:status-page-num|s=$caption"/>
          <p:cNvSpPr txBox="1"/>
          <p:nvPr/>
        </p:nvSpPr>
        <p:spPr>
          <a:xfrm>
            <a:off x="11334750" y="6572250"/>
            <a:ext cx="47625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95A5A6"/>
                </a:solidFill>
                <a:latin typeface="QuattrocentoSans"/>
                <a:ea typeface="MiSans"/>
              </a:rPr>
              <a:t>13 / 15</a:t>
            </a:r>
            <a:endParaRPr sz="900" noProof="1">
              <a:solidFill>
                <a:srgbClr val="95A5A6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429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tive"/>
          <p:cNvSpPr/>
          <p:nvPr/>
        </p:nvSpPr>
        <p:spPr>
          <a:xfrm>
            <a:off x="9144000" y="304800"/>
            <a:ext cx="3048000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text1|s=$nav"/>
          <p:cNvSpPr txBox="1"/>
          <p:nvPr/>
        </p:nvSpPr>
        <p:spPr>
          <a:xfrm>
            <a:off x="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项目背景与定位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5" name="dsl:nav-text2|s=$nav"/>
          <p:cNvSpPr txBox="1"/>
          <p:nvPr/>
        </p:nvSpPr>
        <p:spPr>
          <a:xfrm>
            <a:off x="3048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系统架构设计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6" name="dsl:nav-text3|s=$nav"/>
          <p:cNvSpPr txBox="1"/>
          <p:nvPr/>
        </p:nvSpPr>
        <p:spPr>
          <a:xfrm>
            <a:off x="6096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BDC3C7"/>
                </a:solidFill>
                <a:latin typeface="QuattrocentoSans"/>
                <a:ea typeface="MiSans"/>
              </a:rPr>
              <a:t>关键技术亮点</a:t>
            </a:r>
            <a:endParaRPr sz="10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7" name="dsl:nav-text4|s=$nav"/>
          <p:cNvSpPr txBox="1"/>
          <p:nvPr/>
        </p:nvSpPr>
        <p:spPr>
          <a:xfrm>
            <a:off x="9144000" y="0"/>
            <a:ext cx="3048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E67E22"/>
                </a:solidFill>
                <a:latin typeface="QuattrocentoSans"/>
                <a:ea typeface="MiSans"/>
              </a:rPr>
              <a:t>项目成果与展望</a:t>
            </a:r>
            <a:endParaRPr sz="1050" noProof="1">
              <a:solidFill>
                <a:srgbClr val="E67E22"/>
              </a:solidFill>
              <a:latin typeface="QuattrocentoSans"/>
              <a:ea typeface="MiSans"/>
            </a:endParaRPr>
          </a:p>
        </p:txBody>
      </p:sp>
      <p:sp>
        <p:nvSpPr>
          <p:cNvPr id="8" name="dsl:sum-accent-bar"/>
          <p:cNvSpPr/>
          <p:nvPr/>
        </p:nvSpPr>
        <p:spPr>
          <a:xfrm>
            <a:off x="571500" y="533400"/>
            <a:ext cx="38100" cy="2667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sum-title|s=$title"/>
          <p:cNvSpPr txBox="1"/>
          <p:nvPr/>
        </p:nvSpPr>
        <p:spPr>
          <a:xfrm>
            <a:off x="723900" y="476250"/>
            <a:ext cx="6667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b="1" noProof="1">
                <a:solidFill>
                  <a:srgbClr val="2C3E50"/>
                </a:solidFill>
                <a:latin typeface="QuattrocentoSans"/>
                <a:ea typeface="alimamashuheiti"/>
              </a:rPr>
              <a:t>改进方向与总结</a:t>
            </a:r>
            <a:endParaRPr sz="210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10" name="dsl:sum-card1-bg"/>
          <p:cNvSpPr/>
          <p:nvPr/>
        </p:nvSpPr>
        <p:spPr>
          <a:xfrm>
            <a:off x="571500" y="1047750"/>
            <a:ext cx="2571750" cy="219075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sum-card1-icon|i=fas:lock" descr="tmp72wbsh6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2382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sum-card1-title"/>
          <p:cNvSpPr txBox="1"/>
          <p:nvPr/>
        </p:nvSpPr>
        <p:spPr>
          <a:xfrm>
            <a:off x="1162050" y="1219200"/>
            <a:ext cx="18097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2C3E50"/>
                </a:solidFill>
                <a:latin typeface="QuattrocentoSans"/>
                <a:ea typeface="alimamashuheiti"/>
              </a:rPr>
              <a:t>安全加固</a:t>
            </a:r>
            <a:endParaRPr sz="135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13" name="dsl:sum-card1-desc"/>
          <p:cNvSpPr txBox="1"/>
          <p:nvPr/>
        </p:nvSpPr>
        <p:spPr>
          <a:xfrm>
            <a:off x="762000" y="1666875"/>
            <a:ext cx="2190750" cy="1428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2C3E50"/>
                </a:solidFill>
                <a:latin typeface="QuattrocentoSans"/>
                <a:ea typeface="MiSans"/>
              </a:rPr>
              <a:t>Nacos 配置密码加密</a:t>
            </a:r>
            <a:endParaRPr sz="1125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2C3E50"/>
                </a:solidFill>
                <a:latin typeface="QuattrocentoSans"/>
                <a:ea typeface="MiSans"/>
              </a:rPr>
              <a:t>敏感信息脱敏处理</a:t>
            </a:r>
            <a:endParaRPr sz="1125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2C3E50"/>
                </a:solidFill>
                <a:latin typeface="QuattrocentoSans"/>
                <a:ea typeface="MiSans"/>
              </a:rPr>
              <a:t>Shiro 权限细化</a:t>
            </a:r>
            <a:endParaRPr sz="1125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14" name="dsl:sum-card2-bg"/>
          <p:cNvSpPr/>
          <p:nvPr/>
        </p:nvSpPr>
        <p:spPr>
          <a:xfrm>
            <a:off x="3333750" y="1047750"/>
            <a:ext cx="2571750" cy="219075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dsl:sum-card2-icon|i=fas:arrow-up" descr="tmp72wbsh6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4250" y="12382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sum-card2-title"/>
          <p:cNvSpPr txBox="1"/>
          <p:nvPr/>
        </p:nvSpPr>
        <p:spPr>
          <a:xfrm>
            <a:off x="3924300" y="1219200"/>
            <a:ext cx="18097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2C3E50"/>
                </a:solidFill>
                <a:latin typeface="QuattrocentoSans"/>
                <a:ea typeface="alimamashuheiti"/>
              </a:rPr>
              <a:t>版本升级</a:t>
            </a:r>
            <a:endParaRPr sz="135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17" name="dsl:sum-card2-desc"/>
          <p:cNvSpPr txBox="1"/>
          <p:nvPr/>
        </p:nvSpPr>
        <p:spPr>
          <a:xfrm>
            <a:off x="3524250" y="1666875"/>
            <a:ext cx="2190750" cy="1428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2C3E50"/>
                </a:solidFill>
                <a:latin typeface="QuattrocentoSans"/>
                <a:ea typeface="MiSans"/>
              </a:rPr>
              <a:t>Spring Boot 3.x</a:t>
            </a:r>
            <a:endParaRPr sz="1125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2C3E50"/>
                </a:solidFill>
                <a:latin typeface="QuattrocentoSans"/>
                <a:ea typeface="MiSans"/>
              </a:rPr>
              <a:t>JDK 17+</a:t>
            </a:r>
            <a:endParaRPr sz="1125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2C3E50"/>
                </a:solidFill>
                <a:latin typeface="QuattrocentoSans"/>
                <a:ea typeface="MiSans"/>
              </a:rPr>
              <a:t>Spring Cloud 202x</a:t>
            </a:r>
            <a:endParaRPr sz="1125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18" name="dsl:sum-card3-bg"/>
          <p:cNvSpPr/>
          <p:nvPr/>
        </p:nvSpPr>
        <p:spPr>
          <a:xfrm>
            <a:off x="6096000" y="1047750"/>
            <a:ext cx="2571750" cy="219075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sum-card3-icon|i=fas:vial" descr="tmp72wbsh6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0" y="12382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sum-card3-title"/>
          <p:cNvSpPr txBox="1"/>
          <p:nvPr/>
        </p:nvSpPr>
        <p:spPr>
          <a:xfrm>
            <a:off x="6686550" y="1219200"/>
            <a:ext cx="18097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2C3E50"/>
                </a:solidFill>
                <a:latin typeface="QuattrocentoSans"/>
                <a:ea typeface="alimamashuheiti"/>
              </a:rPr>
              <a:t>测试补全</a:t>
            </a:r>
            <a:endParaRPr sz="135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21" name="dsl:sum-card3-desc"/>
          <p:cNvSpPr txBox="1"/>
          <p:nvPr/>
        </p:nvSpPr>
        <p:spPr>
          <a:xfrm>
            <a:off x="6286500" y="1666875"/>
            <a:ext cx="2190750" cy="1428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2C3E50"/>
                </a:solidFill>
                <a:latin typeface="QuattrocentoSans"/>
                <a:ea typeface="MiSans"/>
              </a:rPr>
              <a:t>核心链路单元测试</a:t>
            </a:r>
            <a:endParaRPr sz="1125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2C3E50"/>
                </a:solidFill>
                <a:latin typeface="QuattrocentoSans"/>
                <a:ea typeface="MiSans"/>
              </a:rPr>
              <a:t>集成测试覆盖</a:t>
            </a:r>
            <a:endParaRPr sz="1125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2C3E50"/>
                </a:solidFill>
                <a:latin typeface="QuattrocentoSans"/>
                <a:ea typeface="MiSans"/>
              </a:rPr>
              <a:t>接口自动化测试</a:t>
            </a:r>
            <a:endParaRPr sz="1125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22" name="dsl:sum-card4-bg"/>
          <p:cNvSpPr/>
          <p:nvPr/>
        </p:nvSpPr>
        <p:spPr>
          <a:xfrm>
            <a:off x="8858250" y="1047750"/>
            <a:ext cx="2762250" cy="219075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dsl:sum-card4-icon|i=fas:rotate" descr="tmp72wbsh6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8750" y="12382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4" name="dsl:sum-card4-title"/>
          <p:cNvSpPr txBox="1"/>
          <p:nvPr/>
        </p:nvSpPr>
        <p:spPr>
          <a:xfrm>
            <a:off x="9448800" y="1219200"/>
            <a:ext cx="20002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2C3E50"/>
                </a:solidFill>
                <a:latin typeface="QuattrocentoSans"/>
                <a:ea typeface="alimamashuheiti"/>
              </a:rPr>
              <a:t>消息可靠性</a:t>
            </a:r>
            <a:endParaRPr sz="1350" b="1" noProof="1">
              <a:solidFill>
                <a:srgbClr val="2C3E50"/>
              </a:solidFill>
              <a:latin typeface="QuattrocentoSans"/>
              <a:ea typeface="alimamashuheiti"/>
            </a:endParaRPr>
          </a:p>
        </p:txBody>
      </p:sp>
      <p:sp>
        <p:nvSpPr>
          <p:cNvPr id="25" name="dsl:sum-card4-desc"/>
          <p:cNvSpPr txBox="1"/>
          <p:nvPr/>
        </p:nvSpPr>
        <p:spPr>
          <a:xfrm>
            <a:off x="9048750" y="1666875"/>
            <a:ext cx="2381250" cy="1428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2C3E50"/>
                </a:solidFill>
                <a:latin typeface="QuattrocentoSans"/>
                <a:ea typeface="MiSans"/>
              </a:rPr>
              <a:t>死信队列机制</a:t>
            </a:r>
            <a:endParaRPr sz="1125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2C3E50"/>
                </a:solidFill>
                <a:latin typeface="QuattrocentoSans"/>
                <a:ea typeface="MiSans"/>
              </a:rPr>
              <a:t>重试机制与幂等</a:t>
            </a:r>
            <a:endParaRPr sz="1125" noProof="1">
              <a:solidFill>
                <a:srgbClr val="2C3E50"/>
              </a:solidFill>
              <a:latin typeface="QuattrocentoSans"/>
              <a:ea typeface="MiSans"/>
            </a:endParaRPr>
          </a:p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2C3E50"/>
                </a:solidFill>
                <a:latin typeface="QuattrocentoSans"/>
                <a:ea typeface="MiSans"/>
              </a:rPr>
              <a:t>消息持久化保障</a:t>
            </a:r>
            <a:endParaRPr sz="1125" noProof="1">
              <a:solidFill>
                <a:srgbClr val="2C3E50"/>
              </a:solidFill>
              <a:latin typeface="QuattrocentoSans"/>
              <a:ea typeface="MiSans"/>
            </a:endParaRPr>
          </a:p>
        </p:txBody>
      </p:sp>
      <p:sp>
        <p:nvSpPr>
          <p:cNvPr id="26" name="dsl:sum-conclusion-bg"/>
          <p:cNvSpPr/>
          <p:nvPr/>
        </p:nvSpPr>
        <p:spPr>
          <a:xfrm>
            <a:off x="571500" y="3524250"/>
            <a:ext cx="11049000" cy="24765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dsl:sum-conclusion-icon|i=fas:star" descr="tmprhlcy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3762375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8" name="dsl:sum-conclusion-title"/>
          <p:cNvSpPr txBox="1"/>
          <p:nvPr/>
        </p:nvSpPr>
        <p:spPr>
          <a:xfrm>
            <a:off x="1257300" y="3743325"/>
            <a:ext cx="2857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b="1" noProof="1">
                <a:solidFill>
                  <a:srgbClr val="FFFFFF"/>
                </a:solidFill>
                <a:latin typeface="QuattrocentoSans"/>
                <a:ea typeface="alimamashuheiti"/>
              </a:rPr>
              <a:t>项目总结</a:t>
            </a:r>
            <a:endParaRPr sz="1650" b="1" noProof="1">
              <a:solidFill>
                <a:srgbClr val="FFFFFF"/>
              </a:solidFill>
              <a:latin typeface="QuattrocentoSans"/>
              <a:ea typeface="alimamashuheiti"/>
            </a:endParaRPr>
          </a:p>
        </p:txBody>
      </p:sp>
      <p:sp>
        <p:nvSpPr>
          <p:cNvPr id="29" name="dsl:sum-conclusion-text"/>
          <p:cNvSpPr txBox="1"/>
          <p:nvPr/>
        </p:nvSpPr>
        <p:spPr>
          <a:xfrm>
            <a:off x="857250" y="4238625"/>
            <a:ext cx="10477500" cy="152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BDC3C7"/>
                </a:solidFill>
                <a:latin typeface="QuattrocentoSans"/>
                <a:ea typeface="MiSans"/>
              </a:rPr>
              <a:t>beacon-cloud 是一个</a:t>
            </a:r>
            <a:r>
              <a:rPr sz="1350" b="1" noProof="1">
                <a:solidFill>
                  <a:srgbClr val="BDC3C7"/>
                </a:solidFill>
                <a:latin typeface="QuattrocentoSans"/>
                <a:ea typeface="MiSans"/>
              </a:rPr>
              <a:t>功能完整的分布式短信平台</a:t>
            </a:r>
            <a:r>
              <a:rPr sz="1350" noProof="1">
                <a:solidFill>
                  <a:srgbClr val="BDC3C7"/>
                </a:solidFill>
                <a:latin typeface="QuattrocentoSans"/>
                <a:ea typeface="MiSans"/>
              </a:rPr>
              <a:t>，架构设计合理：</a:t>
            </a:r>
            <a:endParaRPr sz="1350" noProof="1">
              <a:solidFill>
                <a:srgbClr val="BDC3C7"/>
              </a:solidFill>
              <a:latin typeface="Quattrocento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BDC3C7"/>
                </a:solidFill>
                <a:latin typeface="QuattrocentoSans"/>
                <a:ea typeface="MiSans"/>
              </a:rPr>
              <a:t>• </a:t>
            </a:r>
            <a:r>
              <a:rPr sz="1350" b="1" noProof="1">
                <a:solidFill>
                  <a:srgbClr val="BDC3C7"/>
                </a:solidFill>
                <a:latin typeface="QuattrocentoSans"/>
                <a:ea typeface="MiSans"/>
              </a:rPr>
              <a:t>微服务拆分清晰</a:t>
            </a:r>
            <a:r>
              <a:rPr sz="1350" noProof="1">
                <a:solidFill>
                  <a:srgbClr val="BDC3C7"/>
                </a:solidFill>
                <a:latin typeface="QuattrocentoSans"/>
                <a:ea typeface="MiSans"/>
              </a:rPr>
              <a:t> — 按职责拆分为 9 个业务模块 + 1 个公共模块，高内聚低耦合</a:t>
            </a:r>
            <a:endParaRPr sz="1350" noProof="1">
              <a:solidFill>
                <a:srgbClr val="BDC3C7"/>
              </a:solidFill>
              <a:latin typeface="Quattrocento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BDC3C7"/>
                </a:solidFill>
                <a:latin typeface="QuattrocentoSans"/>
                <a:ea typeface="MiSans"/>
              </a:rPr>
              <a:t>• </a:t>
            </a:r>
            <a:r>
              <a:rPr sz="1350" b="1" noProof="1">
                <a:solidFill>
                  <a:srgbClr val="BDC3C7"/>
                </a:solidFill>
                <a:latin typeface="QuattrocentoSans"/>
                <a:ea typeface="MiSans"/>
              </a:rPr>
              <a:t>异步解耦</a:t>
            </a:r>
            <a:r>
              <a:rPr sz="1350" noProof="1">
                <a:solidFill>
                  <a:srgbClr val="BDC3C7"/>
                </a:solidFill>
                <a:latin typeface="QuattrocentoSans"/>
                <a:ea typeface="MiSans"/>
              </a:rPr>
              <a:t> — 核心链路通过 RabbitMQ 串联，各模块可独立扩缩容</a:t>
            </a:r>
            <a:endParaRPr sz="1350" noProof="1">
              <a:solidFill>
                <a:srgbClr val="BDC3C7"/>
              </a:solidFill>
              <a:latin typeface="Quattrocento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BDC3C7"/>
                </a:solidFill>
                <a:latin typeface="QuattrocentoSans"/>
                <a:ea typeface="MiSans"/>
              </a:rPr>
              <a:t>• </a:t>
            </a:r>
            <a:r>
              <a:rPr sz="1350" b="1" noProof="1">
                <a:solidFill>
                  <a:srgbClr val="BDC3C7"/>
                </a:solidFill>
                <a:latin typeface="QuattrocentoSans"/>
                <a:ea typeface="MiSans"/>
              </a:rPr>
              <a:t>动态配置</a:t>
            </a:r>
            <a:r>
              <a:rPr sz="1350" noProof="1">
                <a:solidFill>
                  <a:srgbClr val="BDC3C7"/>
                </a:solidFill>
                <a:latin typeface="QuattrocentoSans"/>
                <a:ea typeface="MiSans"/>
              </a:rPr>
              <a:t> — Nacos + @RefreshScope 实现校验链顺序等配置热更新</a:t>
            </a:r>
            <a:endParaRPr sz="1350" noProof="1">
              <a:solidFill>
                <a:srgbClr val="BDC3C7"/>
              </a:solidFill>
              <a:latin typeface="Quattrocento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350" noProof="1">
                <a:solidFill>
                  <a:srgbClr val="BDC3C7"/>
                </a:solidFill>
                <a:latin typeface="QuattrocentoSans"/>
                <a:ea typeface="MiSans"/>
              </a:rPr>
              <a:t>• </a:t>
            </a:r>
            <a:r>
              <a:rPr sz="1350" b="1" noProof="1">
                <a:solidFill>
                  <a:srgbClr val="BDC3C7"/>
                </a:solidFill>
                <a:latin typeface="QuattrocentoSans"/>
                <a:ea typeface="MiSans"/>
              </a:rPr>
              <a:t>协议层自研</a:t>
            </a:r>
            <a:r>
              <a:rPr sz="1350" noProof="1">
                <a:solidFill>
                  <a:srgbClr val="BDC3C7"/>
                </a:solidFill>
                <a:latin typeface="QuattrocentoSans"/>
                <a:ea typeface="MiSans"/>
              </a:rPr>
              <a:t> — Netty 自实现 CMPP 编解码，具备运营商级短信下发能力</a:t>
            </a:r>
            <a:endParaRPr sz="135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30" name="dsl:sum-page-num|s=$caption"/>
          <p:cNvSpPr txBox="1"/>
          <p:nvPr/>
        </p:nvSpPr>
        <p:spPr>
          <a:xfrm>
            <a:off x="11334750" y="6572250"/>
            <a:ext cx="47625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900" noProof="1">
                <a:solidFill>
                  <a:srgbClr val="95A5A6"/>
                </a:solidFill>
                <a:latin typeface="QuattrocentoSans"/>
                <a:ea typeface="MiSans"/>
              </a:rPr>
              <a:t>14 / 15</a:t>
            </a:r>
            <a:endParaRPr sz="900" noProof="1">
              <a:solidFill>
                <a:srgbClr val="95A5A6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final-accent-line"/>
          <p:cNvSpPr/>
          <p:nvPr/>
        </p:nvSpPr>
        <p:spPr>
          <a:xfrm>
            <a:off x="5143500" y="2952750"/>
            <a:ext cx="1905000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final-title"/>
          <p:cNvSpPr txBox="1"/>
          <p:nvPr/>
        </p:nvSpPr>
        <p:spPr>
          <a:xfrm>
            <a:off x="1333500" y="2286000"/>
            <a:ext cx="9525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3000" b="1" noProof="1">
                <a:solidFill>
                  <a:srgbClr val="FFFFFF"/>
                </a:solidFill>
                <a:latin typeface="QuattrocentoSans"/>
                <a:ea typeface="alimamashuheiti"/>
              </a:rPr>
              <a:t>谢谢聆听</a:t>
            </a:r>
            <a:endParaRPr sz="3000" b="1" noProof="1">
              <a:solidFill>
                <a:srgbClr val="FFFFFF"/>
              </a:solidFill>
              <a:latin typeface="QuattrocentoSans"/>
              <a:ea typeface="alimamashuheiti"/>
            </a:endParaRPr>
          </a:p>
        </p:txBody>
      </p:sp>
      <p:sp>
        <p:nvSpPr>
          <p:cNvPr id="4" name="dsl:final-subtitle"/>
          <p:cNvSpPr txBox="1"/>
          <p:nvPr/>
        </p:nvSpPr>
        <p:spPr>
          <a:xfrm>
            <a:off x="2286000" y="31432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noProof="1">
                <a:solidFill>
                  <a:srgbClr val="BDC3C7"/>
                </a:solidFill>
                <a:latin typeface="QuattrocentoSans"/>
                <a:ea typeface="MiSans"/>
              </a:rPr>
              <a:t>beacon-cloud — 基于 Spring Cloud 的分布式短信平台</a:t>
            </a:r>
            <a:endParaRPr sz="1500" noProof="1">
              <a:solidFill>
                <a:srgbClr val="BDC3C7"/>
              </a:solidFill>
              <a:latin typeface="QuattrocentoSans"/>
              <a:ea typeface="MiSans"/>
            </a:endParaRPr>
          </a:p>
        </p:txBody>
      </p:sp>
      <p:sp>
        <p:nvSpPr>
          <p:cNvPr id="5" name="dsl:final-info"/>
          <p:cNvSpPr txBox="1"/>
          <p:nvPr/>
        </p:nvSpPr>
        <p:spPr>
          <a:xfrm>
            <a:off x="3238500" y="4000500"/>
            <a:ext cx="571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95A5A6"/>
                </a:solidFill>
                <a:latin typeface="QuattrocentoSans"/>
                <a:ea typeface="MiSans"/>
              </a:rPr>
              <a:t>欢迎提问与交流</a:t>
            </a:r>
            <a:endParaRPr sz="1200" noProof="1">
              <a:solidFill>
                <a:srgbClr val="95A5A6"/>
              </a:solidFill>
              <a:latin typeface="QuattrocentoSans"/>
              <a:ea typeface="MiSans"/>
            </a:endParaRPr>
          </a:p>
        </p:txBody>
      </p:sp>
      <p:sp>
        <p:nvSpPr>
          <p:cNvPr id="6" name="dsl:final-project"/>
          <p:cNvSpPr txBox="1"/>
          <p:nvPr/>
        </p:nvSpPr>
        <p:spPr>
          <a:xfrm>
            <a:off x="3238500" y="5715000"/>
            <a:ext cx="571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95A5A6"/>
                </a:solidFill>
                <a:latin typeface="QuattrocentoSans"/>
                <a:ea typeface="MiSans"/>
              </a:rPr>
              <a:t>beacon-cloud 项目 | 2026</a:t>
            </a:r>
            <a:endParaRPr sz="1050" noProof="1">
              <a:solidFill>
                <a:srgbClr val="95A5A6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2C3E50"/>
    <Color name="secondary" value="#95A5A6"/>
    <Color name="accent" value="#E67E22"/>
    <Color name="background" value="#FDFCFA"/>
    <Color name="text" value="#2C3E50"/>
    <Color name="light" value="#FFFFFF"/>
    <Color name="cardBg" value="#F5F3F0"/>
    <Color name="darkBg" value="#2C3E50"/>
    <Color name="lightText" value="#BDC3C7"/>
  </Colors>
  <TextStyles>
    <TextStyle name="title" font_size="28.0" color="$primary" font_family="QuattrocentoSans, alimamashuheiti"/>
    <TextStyle name="subtitle" font_size="22.0" color="$primary" font_family="QuattrocentoSans, alimamashuheiti"/>
    <TextStyle name="body" font_size="18.0" color="$text" font_family="QuattrocentoSans, MiSans" line_height="1.6"/>
    <TextStyle name="caption" font_size="14.0" color="$secondary" font_family="QuattrocentoSans, MiSans"/>
    <TextStyle name="nav" font_size="14.0" color="$light" font_family="QuattrocentoSans, MiSans"/>
    <TextStyle name="heroNumber" font_size="96.0" color="#FFFFFF20" font_family="QuattrocentoSans, alimamashuheiti"/>
  </TextStyles>
  <TableStyles>
    <TableStyle name="default" fontSize="16.0" fontFamily="QuattrocentoSans, MiSans" headerFill="$primary" headerColor="$light" headerBold="true" bodyFill="$background,$cardBg" bodyColor="$text" firstColumnBold="false">
      <Border style="solid" width="1.0" color="#E0E0E0"/>
    </TableStyle>
  </TableStyles>
</DslMetadata>
</file>

<file path=customXml/itemProps1.xml><?xml version="1.0" encoding="utf-8"?>
<ds:datastoreItem xmlns:ds="http://schemas.openxmlformats.org/officeDocument/2006/customXml" ds:itemID="{D6CA72A1-76F4-41A7-9C08-D22920A569A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4258</Words>
  <Application>WPS 演示</Application>
  <PresentationFormat>On-screen Show (4:3)</PresentationFormat>
  <Paragraphs>526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Arial</vt:lpstr>
      <vt:lpstr>QuattrocentoSans</vt:lpstr>
      <vt:lpstr>Segoe Print</vt:lpstr>
      <vt:lpstr>alimamashuheiti</vt:lpstr>
      <vt:lpstr>MiSans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柒</cp:lastModifiedBy>
  <cp:revision>2</cp:revision>
  <dcterms:created xsi:type="dcterms:W3CDTF">2013-01-27T09:14:00Z</dcterms:created>
  <dcterms:modified xsi:type="dcterms:W3CDTF">2026-07-01T15:53:44Z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6AAA0163FC334107A1241D93E89DE51A_12</vt:lpwstr>
  </property>
  <property fmtid="{D5CDD505-2E9C-101B-9397-08002B2CF9AE}" pid="3" name="KSOProductBuildVer">
    <vt:lpwstr>2052-12.1.0.24657</vt:lpwstr>
  </property>
</Properties>
</file>